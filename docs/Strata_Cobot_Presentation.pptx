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e1d366-0854-39de-df3d-80345f57665a}">
          <p14:sldIdLst>
            <p14:sldId id="256"/>
            <p14:sldId id="257"/>
            <p14:sldId id="258"/>
            <p14:sldId id="259"/>
          </p14:sldIdLst>
        </p14:section>
        <p14:section name="The manipulator" id="{0b24578b-af5f-b63a-0c6f-c4f7f6269597}">
          <p14:sldIdLst>
            <p14:sldId id="260"/>
            <p14:sldId id="261"/>
            <p14:sldId id="262"/>
            <p14:sldId id="263"/>
            <p14:sldId id="264"/>
          </p14:sldIdLst>
        </p14:section>
        <p14:section name="The mobile robot" id="{4a278b7f-aede-0643-606a-1fe985082213}">
          <p14:sldIdLst>
            <p14:sldId id="265"/>
            <p14:sldId id="266"/>
          </p14:sldIdLst>
        </p14:section>
        <p14:section name="Results" id="{c8b2878b-80dd-81fb-30b4-7f7645fd9d2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Total lap length vs. clearance kept from rocks</a:t>
            </a:r>
          </a:p>
        </c:rich>
      </c:tx>
      <c:layout/>
      <c:overlay val="0"/>
    </c:title>
    <c:autoTitleDeleted val="0"/>
    <c:plotArea>
      <c:layout/>
      <c:lineChart>
        <c:varyColors val="0"/>
        <c:ser>
          <c:idx val="0"/>
          <c:order val="0"/>
          <c:tx>
            <c:strRef>
              <c:f>Sheet1!$B$1</c:f>
              <c:strCache>
                <c:ptCount val="1"/>
                <c:pt idx="0">
                  <c:v>Lap length (m)</c:v>
                </c:pt>
              </c:strCache>
            </c:strRef>
          </c:tx>
          <c:spPr>
            <a:solidFill>
              <a:srgbClr val="C4501F"/>
            </a:solidFill>
            <a:ln w="31750" cap="flat">
              <a:solidFill>
                <a:srgbClr val="C4501F"/>
              </a:solidFill>
              <a:prstDash val="solid"/>
              <a:round/>
            </a:ln>
            <a:effectLst/>
          </c:spPr>
          <c:invertIfNegative val="0"/>
          <c:dLbls>
            <c:numFmt formatCode="0.00" sourceLinked="0"/>
            <c:txPr>
              <a:bodyPr/>
              <a:lstStyle/>
              <a:p>
                <a:pPr>
                  <a:defRPr b="0" i="0" strike="noStrike" sz="1200" u="none">
                    <a:solidFill>
                      <a:srgbClr val="1E2226"/>
                    </a:solidFill>
                    <a:latin typeface="+mn-lt"/>
                  </a:defRPr>
                </a:pPr>
              </a:p>
            </c:txPr>
            <c:dLblPos val="t"/>
            <c:showLegendKey val="0"/>
            <c:showVal val="1"/>
            <c:showCatName val="0"/>
            <c:showSerName val="0"/>
            <c:showPercent val="0"/>
            <c:showBubbleSize val="0"/>
            <c:showLeaderLines val="0"/>
          </c:dLbls>
          <c:marker>
            <c:symbol val="circle"/>
            <c:size val="8"/>
            <c:spPr>
              <a:solidFill>
                <a:srgbClr val="C4501F"/>
              </a:solidFill>
              <a:ln w="9525" cap="flat">
                <a:solidFill>
                  <a:srgbClr val="C4501F"/>
                </a:solidFill>
                <a:prstDash val="solid"/>
                <a:round/>
              </a:ln>
              <a:effectLst/>
            </c:spPr>
          </c:marker>
          <c:cat>
            <c:multiLvlStrRef>
              <c:f>Sheet1!$A$2:$A$7</c:f>
              <c:multiLvlStrCache>
                <c:ptCount val="6"/>
                <c:lvl>
                  <c:pt idx="0">
                    <c:v>0.34</c:v>
                  </c:pt>
                  <c:pt idx="1">
                    <c:v>0.36</c:v>
                  </c:pt>
                  <c:pt idx="2">
                    <c:v>0.38</c:v>
                  </c:pt>
                  <c:pt idx="3">
                    <c:v>0.395</c:v>
                  </c:pt>
                  <c:pt idx="4">
                    <c:v>0.42</c:v>
                  </c:pt>
                  <c:pt idx="5">
                    <c:v>0.45</c:v>
                  </c:pt>
                </c:lvl>
              </c:multiLvlStrCache>
            </c:multiLvlStrRef>
          </c:cat>
          <c:val>
            <c:numRef>
              <c:f>Sheet1!$B$2:$B$7</c:f>
              <c:numCache>
                <c:formatCode>General</c:formatCode>
                <c:ptCount val="6"/>
                <c:pt idx="0">
                  <c:v>14.45</c:v>
                </c:pt>
                <c:pt idx="1">
                  <c:v>14.46</c:v>
                </c:pt>
                <c:pt idx="2">
                  <c:v>14.47</c:v>
                </c:pt>
                <c:pt idx="3">
                  <c:v>14.49</c:v>
                </c:pt>
                <c:pt idx="4">
                  <c:v>15.14</c:v>
                </c:pt>
                <c:pt idx="5">
                  <c:v>16.34</c:v>
                </c:pt>
              </c:numCache>
            </c:numRef>
          </c:val>
          <c:smooth val="0"/>
        </c:ser>
        <c:dLbls>
          <c:numFmt formatCode="0.00" sourceLinked="0"/>
          <c:txPr>
            <a:bodyPr/>
            <a:lstStyle/>
            <a:p>
              <a:pPr>
                <a:defRPr b="0" i="0" strike="noStrike" sz="1200" u="none">
                  <a:solidFill>
                    <a:srgbClr val="1E2226"/>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280"/>
                    </a:solidFill>
                    <a:latin typeface="Arial"/>
                  </a:defRPr>
                </a:pPr>
                <a:r>
                  <a:rPr sz="1200" b="0" i="0" u="none" strike="noStrike">
                    <a:solidFill>
                      <a:srgbClr val="6B7280"/>
                    </a:solidFill>
                    <a:latin typeface="Arial"/>
                  </a:rPr>
                  <a:t>Clearance from body centre to rock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16.5"/>
          <c:min val="14"/>
        </c:scaling>
        <c:delete val="0"/>
        <c:axPos val="l"/>
        <c:majorGridlines>
          <c:spPr>
            <a:ln w="6350" cap="flat">
              <a:solidFill>
                <a:srgbClr val="E5E1D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two robots, a UR7e arm and a mobile eBot, run a mining operation in simulation with no human in the loop. Everything you will see - perception, inverse kinematics, path planning - we wrote ourselves, without MoveIt2, Nav2 or any other ready-made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the eBot owns mobility, the arm owns manipulation. We built and tested each half separately; handing ore from one robot to the other is future work. Each ore is a black block with one coloured top face, and that face is how both the camera and the scoring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project into four subsystems, two per robot, and gave each one a number we could check against the simulator rather than judging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Python nodes per robot. Note the arrows into the simulation: the arm accepts only velocity commands and the eBot only velocity twists, so every node closes its own control loop at 20 to 50 Hz. The two highlighted nodes hold most of the algorithmic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detector found ores by tight colour thresholds. Now we separate where an ore is from what it is. Where comes from the depth camera: every ore is a block standing 76 mm above the belt, so its top face is found whatever its colour. What comes from a vote: we count how much of the face shows each mineral's colour. Fitting a rectangle to the face, instead of taking a median, keeps the position within 2 to 3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lecturer pointed out that real ores are not pure colours. We tested that two ways. First, we painted impurities into a real camera frame: the old tight thresholds fall below half at 20 percent impurity, while the vote stays perfect up to 50 percent and never picks the wrong mineral. Second, we ran both on 180 real mineral photographs: tight thresholds recognise 11 percent, the vote 70 percent on photos it was not tuned on. Azurite is hardest, because real azurite is very dark and usually mixed with malachite. A trained classifier is the next step once real samples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 positions were not given. We parsed the rover's collision mesh to get exact walls. The surprise: the vanadinite container's centre is beyond the arm's reach with the tool vertical, so every ore is dropped at the reachable edge of its container. The crosses on the plot are the drop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magnet only captures when its face is fully inside the ore face and parallel to it, so the descent is a straight vertical line with the tool held vertical. We do not trust the magnet service reply: after lifting, the force sensor must read the ore's weight, about 1.47 N, or the pick is retried. If a protective stop ever latches, the node unlocks, backs off upward and re-plans - but none happened in any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IK used a general constrained optimiser, and every gradient step re-ran the collision and singularity checks: minutes per plan. Damped least squares solves only what the problem needs - five constraints - and checks safety once at the end. Add a library of solved poses as seeds and planning drops to a fraction of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to the ore drop pose, then to the arm pose, then home. Every straight leg is re-checked on the full-resolution map. Tightening matters: without it, corners sit on 5 cm grid cells and the path is a few percent too long - which made our first version 2 percent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path quality against the shortest path for a 0.395 m circle that encloses the chassis. But when driving straight past a rock only the half-width must clear, so we can plan slightly inside that clearance and match the shortest length while keeping 13 cm to spare. Above 0.40 m narrow gaps close and the lap grows by up to 13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trial used a freshly launched world with randomised ores or rocks, checked by the automatic evaluator that comes with the simulation. Sorting was perfect in both trials on different ore mixes. Path efficiency reached 1.00; the small shortfall in one trial comes from the reference path varying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the first version could not do. First, the full loop: the eBot hauls the ore package to the arm, the arm finds it with odometry and the depth camera, lifts it off the deck and places it on the conveyor, then the eBot drives home. Second, obstacles the map does not have: our paths always keep 30 cm from mapped rocks, so anything the lidar sees closer than 26 cm to the path is new. The robot stops, the planner adds it to the map and re-plans in a tenth of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were invisible until we ran full trials with automatic checking, which is the main lesson: test end to end early. The others came from measuring the geometry ourselves instead of trusting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both halves of the mission work end to end in simulation, using only algorithms we wrote. The natural next step is the handoff, where the eBot delivers ore to the arm. Happy to take questions, and we can run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2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46304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640080" y="3429000"/>
            <a:ext cx="5852160" cy="118872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1"/>
                </a:solidFill>
              </a:defRPr>
            </a:lvl1pPr>
          </a:lstStyle>
          <a:p>
            <a:pPr indent="0" marL="0">
              <a:buNone/>
            </a:pPr>
            <a:r>
              <a:rPr lang="en-US" sz="3200" b="1" dirty="0">
                <a:solidFill>
                  <a:schemeClr val="tx1"/>
                </a:solidFill>
              </a:rPr>
              <a:t>Title</a:t>
            </a:r>
            <a:endParaRPr lang="en-US" sz="3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E22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rtlCol="0"/>
          <a:lstStyle>
            <a:lvl1pPr indent="0" marL="0">
              <a:buNone/>
              <a:defRPr lang="en-US" sz="3600" b="1" dirty="0">
                <a:solidFill>
                  <a:schemeClr val="bg1"/>
                </a:solidFill>
              </a:defRPr>
            </a:lvl1pPr>
          </a:lstStyle>
          <a:p>
            <a:pPr indent="0" marL="0">
              <a:buNone/>
            </a:pPr>
            <a:r>
              <a:rPr lang="en-US" sz="3600" b="1" dirty="0">
                <a:solidFill>
                  <a:schemeClr val="bg1"/>
                </a:solidFill>
              </a:rPr>
              <a:t>Title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463040"/>
          </a:xfrm>
          <a:prstGeom prst="rect">
            <a:avLst/>
          </a:prstGeom>
          <a:noFill/>
          <a:ln/>
        </p:spPr>
        <p:txBody>
          <a:bodyPr wrap="square" lIns="0" tIns="0" rIns="0" bIns="0" rtlCol="0" anchor="b"/>
          <a:lstStyle/>
          <a:p>
            <a:pPr indent="0" marL="0">
              <a:buNone/>
            </a:pPr>
            <a:r>
              <a:rPr lang="en-US" sz="4800" b="1" dirty="0">
                <a:solidFill>
                  <a:schemeClr val="bg1"/>
                </a:solidFill>
              </a:rPr>
              <a:t>Strata Cobot</a:t>
            </a:r>
            <a:endParaRPr lang="en-US" sz="4800" dirty="0"/>
          </a:p>
        </p:txBody>
      </p:sp>
      <p:sp>
        <p:nvSpPr>
          <p:cNvPr id="3" name="Text 0"/>
          <p:cNvSpPr/>
          <p:nvPr>
            <p:ph idx="101" type="body" hasCustomPrompt="1"/>
          </p:nvPr>
        </p:nvSpPr>
        <p:spPr>
          <a:xfrm>
            <a:off x="640080" y="3429000"/>
            <a:ext cx="5852160" cy="1188720"/>
          </a:xfrm>
          <a:prstGeom prst="rect">
            <a:avLst/>
          </a:prstGeom>
          <a:noFill/>
          <a:ln/>
        </p:spPr>
        <p:txBody>
          <a:bodyPr wrap="square" lIns="0" tIns="0" rIns="0" bIns="0" rtlCol="0" anchor="t"/>
          <a:lstStyle/>
          <a:p>
            <a:pPr indent="0" marL="0">
              <a:buNone/>
            </a:pPr>
            <a:r>
              <a:rPr lang="en-US" sz="2000" dirty="0">
                <a:solidFill>
                  <a:schemeClr val="bg2"/>
                </a:solidFill>
              </a:rPr>
              <a:t>Autonomous ore sorting and haulage with two robots in ROS 2</a:t>
            </a:r>
            <a:endParaRPr lang="en-US" sz="2000" dirty="0"/>
          </a:p>
        </p:txBody>
      </p:sp>
      <p:sp>
        <p:nvSpPr>
          <p:cNvPr id="4" name="Text 2"/>
          <p:cNvSpPr txBox="1"/>
          <p:nvPr/>
        </p:nvSpPr>
        <p:spPr>
          <a:xfrm>
            <a:off x="640080" y="5257800"/>
            <a:ext cx="10881360" cy="365760"/>
          </a:xfrm>
          <a:prstGeom prst="rect">
            <a:avLst/>
          </a:prstGeom>
          <a:noFill/>
          <a:ln/>
        </p:spPr>
        <p:txBody>
          <a:bodyPr wrap="square" lIns="0" tIns="0" rIns="0" bIns="0" rtlCol="0" anchor="t"/>
          <a:lstStyle/>
          <a:p>
            <a:pPr indent="0" marL="0">
              <a:buNone/>
            </a:pPr>
            <a:r>
              <a:rPr lang="en-US" sz="1600" b="1" dirty="0">
                <a:solidFill>
                  <a:schemeClr val="bg1"/>
                </a:solidFill>
              </a:rPr>
              <a:t>C Saihardhik Reddy  ·  R Gagan Chowdary  ·  K Charan Saatvikh Reddy</a:t>
            </a:r>
            <a:endParaRPr lang="en-US" sz="1600" dirty="0"/>
          </a:p>
        </p:txBody>
      </p:sp>
      <p:sp>
        <p:nvSpPr>
          <p:cNvPr id="5" name="Text 3"/>
          <p:cNvSpPr txBox="1"/>
          <p:nvPr/>
        </p:nvSpPr>
        <p:spPr>
          <a:xfrm>
            <a:off x="640080" y="5715000"/>
            <a:ext cx="10881360" cy="365760"/>
          </a:xfrm>
          <a:prstGeom prst="rect">
            <a:avLst/>
          </a:prstGeom>
          <a:noFill/>
          <a:ln/>
        </p:spPr>
        <p:txBody>
          <a:bodyPr wrap="square" lIns="0" tIns="0" rIns="0" bIns="0" rtlCol="0" anchor="t"/>
          <a:lstStyle/>
          <a:p>
            <a:pPr indent="0" marL="0">
              <a:buNone/>
            </a:pPr>
            <a:r>
              <a:rPr lang="en-US" sz="1400" dirty="0">
                <a:solidFill>
                  <a:schemeClr val="accent5"/>
                </a:solidFill>
              </a:rPr>
              <a:t>Robotics course project  ·  Amrita Vishwa Vidyapeetham</a:t>
            </a:r>
            <a:endParaRPr lang="en-US" sz="1400" dirty="0"/>
          </a:p>
        </p:txBody>
      </p:sp>
      <p:pic>
        <p:nvPicPr>
          <p:cNvPr id="6" name="hero-camera-frame" descr="RealSense camera frame with four ores detected on the conveyor">    </p:cNvPr>
          <p:cNvPicPr>
            <a:picLocks noChangeAspect="1"/>
          </p:cNvPicPr>
          <p:nvPr/>
        </p:nvPicPr>
        <p:blipFill>
          <a:blip r:embed="rId1"/>
          <a:stretch>
            <a:fillRect/>
          </a:stretch>
        </p:blipFill>
        <p:spPr>
          <a:xfrm>
            <a:off x="6949440" y="1234440"/>
            <a:ext cx="4663440" cy="3497580"/>
          </a:xfrm>
          <a:prstGeom prst="rect">
            <a:avLst/>
          </a:prstGeom>
        </p:spPr>
      </p:pic>
      <p:sp>
        <p:nvSpPr>
          <p:cNvPr id="7" name="Text 4"/>
          <p:cNvSpPr txBox="1"/>
          <p:nvPr/>
        </p:nvSpPr>
        <p:spPr>
          <a:xfrm>
            <a:off x="6949440" y="4846320"/>
            <a:ext cx="4663440" cy="365760"/>
          </a:xfrm>
          <a:prstGeom prst="rect">
            <a:avLst/>
          </a:prstGeom>
          <a:noFill/>
          <a:ln/>
        </p:spPr>
        <p:txBody>
          <a:bodyPr wrap="square" lIns="0" tIns="0" rIns="0" bIns="0" rtlCol="0" anchor="t"/>
          <a:lstStyle/>
          <a:p>
            <a:pPr indent="0" marL="0">
              <a:buNone/>
            </a:pPr>
            <a:r>
              <a:rPr lang="en-US" sz="1200" dirty="0">
                <a:solidFill>
                  <a:schemeClr val="accent5"/>
                </a:solidFill>
              </a:rPr>
              <a:t>The arm camera's view: four ores detected on the conveyor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Two robots, one mining mission</a:t>
            </a:r>
            <a:endParaRPr lang="en-US" sz="3200" dirty="0"/>
          </a:p>
        </p:txBody>
      </p:sp>
      <p:sp>
        <p:nvSpPr>
          <p:cNvPr id="3" name="step-1-dot"/>
          <p:cNvSpPr/>
          <p:nvPr/>
        </p:nvSpPr>
        <p:spPr>
          <a:xfrm>
            <a:off x="548640" y="1463040"/>
            <a:ext cx="457200" cy="457200"/>
          </a:xfrm>
          <a:prstGeom prst="ellipse">
            <a:avLst/>
          </a:prstGeom>
          <a:solidFill>
            <a:schemeClr val="accent6"/>
          </a:solidFill>
          <a:ln w="12700">
            <a:solidFill>
              <a:schemeClr val="accent6"/>
            </a:solidFill>
            <a:prstDash val="solid"/>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417320"/>
            <a:ext cx="5486400" cy="411480"/>
          </a:xfrm>
          <a:prstGeom prst="rect">
            <a:avLst/>
          </a:prstGeom>
          <a:noFill/>
          <a:ln/>
        </p:spPr>
        <p:txBody>
          <a:bodyPr wrap="square" lIns="0" tIns="0" rIns="0" bIns="0" rtlCol="0" anchor="t"/>
          <a:lstStyle/>
          <a:p>
            <a:pPr indent="0" marL="0">
              <a:buNone/>
            </a:pPr>
            <a:r>
              <a:rPr lang="en-US" sz="2000" b="1" dirty="0">
                <a:solidFill>
                  <a:schemeClr val="tx1"/>
                </a:solidFill>
              </a:rPr>
              <a:t>eBot crosses the site</a:t>
            </a:r>
            <a:endParaRPr lang="en-US" sz="2000" dirty="0"/>
          </a:p>
        </p:txBody>
      </p:sp>
      <p:sp>
        <p:nvSpPr>
          <p:cNvPr id="6" name="Text 4"/>
          <p:cNvSpPr txBox="1"/>
          <p:nvPr/>
        </p:nvSpPr>
        <p:spPr>
          <a:xfrm>
            <a:off x="1188720" y="1847088"/>
            <a:ext cx="5486400" cy="457200"/>
          </a:xfrm>
          <a:prstGeom prst="rect">
            <a:avLst/>
          </a:prstGeom>
          <a:noFill/>
          <a:ln/>
        </p:spPr>
        <p:txBody>
          <a:bodyPr wrap="square" lIns="0" tIns="0" rIns="0" bIns="0" rtlCol="0" anchor="t"/>
          <a:lstStyle/>
          <a:p>
            <a:pPr indent="0" marL="0">
              <a:buNone/>
            </a:pPr>
            <a:r>
              <a:rPr lang="en-US" sz="1500" dirty="0">
                <a:solidFill>
                  <a:schemeClr val="tx2"/>
                </a:solidFill>
              </a:rPr>
              <a:t>Plans its own route around the rocks to the excavation region</a:t>
            </a:r>
            <a:endParaRPr lang="en-US" sz="1500" dirty="0"/>
          </a:p>
        </p:txBody>
      </p:sp>
      <p:sp>
        <p:nvSpPr>
          <p:cNvPr id="7" name="step-2-dot"/>
          <p:cNvSpPr/>
          <p:nvPr/>
        </p:nvSpPr>
        <p:spPr>
          <a:xfrm>
            <a:off x="548640" y="2560320"/>
            <a:ext cx="457200" cy="457200"/>
          </a:xfrm>
          <a:prstGeom prst="ellipse">
            <a:avLst/>
          </a:prstGeom>
          <a:solidFill>
            <a:schemeClr val="accent6"/>
          </a:solidFill>
          <a:ln w="12700">
            <a:solidFill>
              <a:schemeClr val="accent6"/>
            </a:solidFill>
            <a:prstDash val="solid"/>
          </a:ln>
        </p:spPr>
      </p:sp>
      <p:sp>
        <p:nvSpPr>
          <p:cNvPr id="8" name="Text 6"/>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514600"/>
            <a:ext cx="5486400" cy="411480"/>
          </a:xfrm>
          <a:prstGeom prst="rect">
            <a:avLst/>
          </a:prstGeom>
          <a:noFill/>
          <a:ln/>
        </p:spPr>
        <p:txBody>
          <a:bodyPr wrap="square" lIns="0" tIns="0" rIns="0" bIns="0" rtlCol="0" anchor="t"/>
          <a:lstStyle/>
          <a:p>
            <a:pPr indent="0" marL="0">
              <a:buNone/>
            </a:pPr>
            <a:r>
              <a:rPr lang="en-US" sz="2000" b="1" dirty="0">
                <a:solidFill>
                  <a:schemeClr val="tx1"/>
                </a:solidFill>
              </a:rPr>
              <a:t>eBot takes on the ore</a:t>
            </a:r>
            <a:endParaRPr lang="en-US" sz="2000" dirty="0"/>
          </a:p>
        </p:txBody>
      </p:sp>
      <p:sp>
        <p:nvSpPr>
          <p:cNvPr id="10" name="Text 8"/>
          <p:cNvSpPr txBox="1"/>
          <p:nvPr/>
        </p:nvSpPr>
        <p:spPr>
          <a:xfrm>
            <a:off x="1188720" y="2944368"/>
            <a:ext cx="5486400" cy="457200"/>
          </a:xfrm>
          <a:prstGeom prst="rect">
            <a:avLst/>
          </a:prstGeom>
          <a:noFill/>
          <a:ln/>
        </p:spPr>
        <p:txBody>
          <a:bodyPr wrap="square" lIns="0" tIns="0" rIns="0" bIns="0" rtlCol="0" anchor="t"/>
          <a:lstStyle/>
          <a:p>
            <a:pPr indent="0" marL="0">
              <a:buNone/>
            </a:pPr>
            <a:r>
              <a:rPr lang="en-US" sz="1500" dirty="0">
                <a:solidFill>
                  <a:schemeClr val="tx2"/>
                </a:solidFill>
              </a:rPr>
              <a:t>Stops under the chute and collects a container of raw ore</a:t>
            </a:r>
            <a:endParaRPr lang="en-US" sz="1500" dirty="0"/>
          </a:p>
        </p:txBody>
      </p:sp>
      <p:sp>
        <p:nvSpPr>
          <p:cNvPr id="11" name="step-3-dot"/>
          <p:cNvSpPr/>
          <p:nvPr/>
        </p:nvSpPr>
        <p:spPr>
          <a:xfrm>
            <a:off x="548640" y="365760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3611880"/>
            <a:ext cx="5486400" cy="411480"/>
          </a:xfrm>
          <a:prstGeom prst="rect">
            <a:avLst/>
          </a:prstGeom>
          <a:noFill/>
          <a:ln/>
        </p:spPr>
        <p:txBody>
          <a:bodyPr wrap="square" lIns="0" tIns="0" rIns="0" bIns="0" rtlCol="0" anchor="t"/>
          <a:lstStyle/>
          <a:p>
            <a:pPr indent="0" marL="0">
              <a:buNone/>
            </a:pPr>
            <a:r>
              <a:rPr lang="en-US" sz="2000" b="1" dirty="0">
                <a:solidFill>
                  <a:schemeClr val="tx1"/>
                </a:solidFill>
              </a:rPr>
              <a:t>Arm sees each ore</a:t>
            </a:r>
            <a:endParaRPr lang="en-US" sz="2000" dirty="0"/>
          </a:p>
        </p:txBody>
      </p:sp>
      <p:sp>
        <p:nvSpPr>
          <p:cNvPr id="14" name="Text 12"/>
          <p:cNvSpPr txBox="1"/>
          <p:nvPr/>
        </p:nvSpPr>
        <p:spPr>
          <a:xfrm>
            <a:off x="1188720" y="4041648"/>
            <a:ext cx="5486400" cy="457200"/>
          </a:xfrm>
          <a:prstGeom prst="rect">
            <a:avLst/>
          </a:prstGeom>
          <a:noFill/>
          <a:ln/>
        </p:spPr>
        <p:txBody>
          <a:bodyPr wrap="square" lIns="0" tIns="0" rIns="0" bIns="0" rtlCol="0" anchor="t"/>
          <a:lstStyle/>
          <a:p>
            <a:pPr indent="0" marL="0">
              <a:buNone/>
            </a:pPr>
            <a:r>
              <a:rPr lang="en-US" sz="1500" dirty="0">
                <a:solidFill>
                  <a:schemeClr val="tx2"/>
                </a:solidFill>
              </a:rPr>
              <a:t>An RGB-D camera finds every ore and its 3D position</a:t>
            </a:r>
            <a:endParaRPr lang="en-US" sz="1500" dirty="0"/>
          </a:p>
        </p:txBody>
      </p:sp>
      <p:sp>
        <p:nvSpPr>
          <p:cNvPr id="15" name="step-4-dot"/>
          <p:cNvSpPr/>
          <p:nvPr/>
        </p:nvSpPr>
        <p:spPr>
          <a:xfrm>
            <a:off x="548640" y="475488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188720" y="4709160"/>
            <a:ext cx="5486400" cy="411480"/>
          </a:xfrm>
          <a:prstGeom prst="rect">
            <a:avLst/>
          </a:prstGeom>
          <a:noFill/>
          <a:ln/>
        </p:spPr>
        <p:txBody>
          <a:bodyPr wrap="square" lIns="0" tIns="0" rIns="0" bIns="0" rtlCol="0" anchor="t"/>
          <a:lstStyle/>
          <a:p>
            <a:pPr indent="0" marL="0">
              <a:buNone/>
            </a:pPr>
            <a:r>
              <a:rPr lang="en-US" sz="2000" b="1" dirty="0">
                <a:solidFill>
                  <a:schemeClr val="tx1"/>
                </a:solidFill>
              </a:rPr>
              <a:t>Arm sorts it</a:t>
            </a:r>
            <a:endParaRPr lang="en-US" sz="2000" dirty="0"/>
          </a:p>
        </p:txBody>
      </p:sp>
      <p:sp>
        <p:nvSpPr>
          <p:cNvPr id="18" name="Text 16"/>
          <p:cNvSpPr txBox="1"/>
          <p:nvPr/>
        </p:nvSpPr>
        <p:spPr>
          <a:xfrm>
            <a:off x="1188720" y="5138928"/>
            <a:ext cx="5486400" cy="457200"/>
          </a:xfrm>
          <a:prstGeom prst="rect">
            <a:avLst/>
          </a:prstGeom>
          <a:noFill/>
          <a:ln/>
        </p:spPr>
        <p:txBody>
          <a:bodyPr wrap="square" lIns="0" tIns="0" rIns="0" bIns="0" rtlCol="0" anchor="t"/>
          <a:lstStyle/>
          <a:p>
            <a:pPr indent="0" marL="0">
              <a:buNone/>
            </a:pPr>
            <a:r>
              <a:rPr lang="en-US" sz="1500" dirty="0">
                <a:solidFill>
                  <a:schemeClr val="tx2"/>
                </a:solidFill>
              </a:rPr>
              <a:t>A magnet picks each ore and drops it in the container for its kind</a:t>
            </a:r>
            <a:endParaRPr lang="en-US" sz="1500" dirty="0"/>
          </a:p>
        </p:txBody>
      </p:sp>
      <p:sp>
        <p:nvSpPr>
          <p:cNvPr id="19" name="containers-card"/>
          <p:cNvSpPr/>
          <p:nvPr/>
        </p:nvSpPr>
        <p:spPr>
          <a:xfrm>
            <a:off x="7223760" y="1417320"/>
            <a:ext cx="4389120" cy="4206240"/>
          </a:xfrm>
          <a:prstGeom prst="roundRect">
            <a:avLst>
              <a:gd name="adj" fmla="val 1739"/>
            </a:avLst>
          </a:prstGeom>
          <a:solidFill>
            <a:schemeClr val="bg2"/>
          </a:solidFill>
          <a:ln w="12700">
            <a:solidFill>
              <a:schemeClr val="bg2"/>
            </a:solidFill>
            <a:prstDash val="solid"/>
          </a:ln>
        </p:spPr>
      </p:sp>
      <p:sp>
        <p:nvSpPr>
          <p:cNvPr id="20" name="Text 18"/>
          <p:cNvSpPr txBox="1"/>
          <p:nvPr/>
        </p:nvSpPr>
        <p:spPr>
          <a:xfrm>
            <a:off x="7498080" y="1645920"/>
            <a:ext cx="3840480" cy="411480"/>
          </a:xfrm>
          <a:prstGeom prst="rect">
            <a:avLst/>
          </a:prstGeom>
          <a:noFill/>
          <a:ln/>
        </p:spPr>
        <p:txBody>
          <a:bodyPr wrap="square" lIns="0" tIns="0" rIns="0" bIns="0" rtlCol="0" anchor="t"/>
          <a:lstStyle/>
          <a:p>
            <a:pPr indent="0" marL="0">
              <a:buNone/>
            </a:pPr>
            <a:r>
              <a:rPr lang="en-US" sz="1800" b="1" dirty="0">
                <a:solidFill>
                  <a:schemeClr val="tx1"/>
                </a:solidFill>
              </a:rPr>
              <a:t>Three minerals, three containers</a:t>
            </a:r>
            <a:endParaRPr lang="en-US" sz="1800" dirty="0"/>
          </a:p>
        </p:txBody>
      </p:sp>
      <p:sp>
        <p:nvSpPr>
          <p:cNvPr id="21" name="ore-azurite"/>
          <p:cNvSpPr/>
          <p:nvPr/>
        </p:nvSpPr>
        <p:spPr>
          <a:xfrm>
            <a:off x="7498080" y="2377440"/>
            <a:ext cx="685800" cy="685800"/>
          </a:xfrm>
          <a:prstGeom prst="roundRect">
            <a:avLst>
              <a:gd name="adj" fmla="val 8000"/>
            </a:avLst>
          </a:prstGeom>
          <a:solidFill>
            <a:schemeClr val="accent2"/>
          </a:solidFill>
          <a:ln w="12700">
            <a:solidFill>
              <a:schemeClr val="accent2"/>
            </a:solidFill>
            <a:prstDash val="solid"/>
          </a:ln>
        </p:spPr>
      </p:sp>
      <p:sp>
        <p:nvSpPr>
          <p:cNvPr id="22" name="Text 20"/>
          <p:cNvSpPr txBox="1"/>
          <p:nvPr/>
        </p:nvSpPr>
        <p:spPr>
          <a:xfrm>
            <a:off x="8412480" y="2395728"/>
            <a:ext cx="2926080" cy="365760"/>
          </a:xfrm>
          <a:prstGeom prst="rect">
            <a:avLst/>
          </a:prstGeom>
          <a:noFill/>
          <a:ln/>
        </p:spPr>
        <p:txBody>
          <a:bodyPr wrap="square" lIns="0" tIns="0" rIns="0" bIns="0" rtlCol="0" anchor="t"/>
          <a:lstStyle/>
          <a:p>
            <a:pPr indent="0" marL="0">
              <a:buNone/>
            </a:pPr>
            <a:r>
              <a:rPr lang="en-US" sz="1800" b="1" dirty="0">
                <a:solidFill>
                  <a:schemeClr val="tx1"/>
                </a:solidFill>
              </a:rPr>
              <a:t>Azurite</a:t>
            </a:r>
            <a:endParaRPr lang="en-US" sz="1800" dirty="0"/>
          </a:p>
        </p:txBody>
      </p:sp>
      <p:sp>
        <p:nvSpPr>
          <p:cNvPr id="23" name="Text 21"/>
          <p:cNvSpPr txBox="1"/>
          <p:nvPr/>
        </p:nvSpPr>
        <p:spPr>
          <a:xfrm>
            <a:off x="8412480" y="2743200"/>
            <a:ext cx="2926080" cy="320040"/>
          </a:xfrm>
          <a:prstGeom prst="rect">
            <a:avLst/>
          </a:prstGeom>
          <a:noFill/>
          <a:ln/>
        </p:spPr>
        <p:txBody>
          <a:bodyPr wrap="square" lIns="0" tIns="0" rIns="0" bIns="0" rtlCol="0" anchor="t"/>
          <a:lstStyle/>
          <a:p>
            <a:pPr indent="0" marL="0">
              <a:buNone/>
            </a:pPr>
            <a:r>
              <a:rPr lang="en-US" sz="1400" dirty="0">
                <a:solidFill>
                  <a:schemeClr val="tx2"/>
                </a:solidFill>
              </a:rPr>
              <a:t>blue face</a:t>
            </a:r>
            <a:endParaRPr lang="en-US" sz="1400" dirty="0"/>
          </a:p>
        </p:txBody>
      </p:sp>
      <p:sp>
        <p:nvSpPr>
          <p:cNvPr id="24" name="ore-malachite"/>
          <p:cNvSpPr/>
          <p:nvPr/>
        </p:nvSpPr>
        <p:spPr>
          <a:xfrm>
            <a:off x="7498080" y="3383280"/>
            <a:ext cx="685800" cy="685800"/>
          </a:xfrm>
          <a:prstGeom prst="roundRect">
            <a:avLst>
              <a:gd name="adj" fmla="val 8000"/>
            </a:avLst>
          </a:prstGeom>
          <a:solidFill>
            <a:schemeClr val="accent3"/>
          </a:solidFill>
          <a:ln w="12700">
            <a:solidFill>
              <a:schemeClr val="accent3"/>
            </a:solidFill>
            <a:prstDash val="solid"/>
          </a:ln>
        </p:spPr>
      </p:sp>
      <p:sp>
        <p:nvSpPr>
          <p:cNvPr id="25" name="Text 23"/>
          <p:cNvSpPr txBox="1"/>
          <p:nvPr/>
        </p:nvSpPr>
        <p:spPr>
          <a:xfrm>
            <a:off x="8412480" y="3401568"/>
            <a:ext cx="2926080" cy="365760"/>
          </a:xfrm>
          <a:prstGeom prst="rect">
            <a:avLst/>
          </a:prstGeom>
          <a:noFill/>
          <a:ln/>
        </p:spPr>
        <p:txBody>
          <a:bodyPr wrap="square" lIns="0" tIns="0" rIns="0" bIns="0" rtlCol="0" anchor="t"/>
          <a:lstStyle/>
          <a:p>
            <a:pPr indent="0" marL="0">
              <a:buNone/>
            </a:pPr>
            <a:r>
              <a:rPr lang="en-US" sz="1800" b="1" dirty="0">
                <a:solidFill>
                  <a:schemeClr val="tx1"/>
                </a:solidFill>
              </a:rPr>
              <a:t>Malachite</a:t>
            </a:r>
            <a:endParaRPr lang="en-US" sz="1800" dirty="0"/>
          </a:p>
        </p:txBody>
      </p:sp>
      <p:sp>
        <p:nvSpPr>
          <p:cNvPr id="26" name="Text 24"/>
          <p:cNvSpPr txBox="1"/>
          <p:nvPr/>
        </p:nvSpPr>
        <p:spPr>
          <a:xfrm>
            <a:off x="8412480" y="3749040"/>
            <a:ext cx="2926080" cy="320040"/>
          </a:xfrm>
          <a:prstGeom prst="rect">
            <a:avLst/>
          </a:prstGeom>
          <a:noFill/>
          <a:ln/>
        </p:spPr>
        <p:txBody>
          <a:bodyPr wrap="square" lIns="0" tIns="0" rIns="0" bIns="0" rtlCol="0" anchor="t"/>
          <a:lstStyle/>
          <a:p>
            <a:pPr indent="0" marL="0">
              <a:buNone/>
            </a:pPr>
            <a:r>
              <a:rPr lang="en-US" sz="1400" dirty="0">
                <a:solidFill>
                  <a:schemeClr val="tx2"/>
                </a:solidFill>
              </a:rPr>
              <a:t>green face</a:t>
            </a:r>
            <a:endParaRPr lang="en-US" sz="1400" dirty="0"/>
          </a:p>
        </p:txBody>
      </p:sp>
      <p:sp>
        <p:nvSpPr>
          <p:cNvPr id="27" name="ore-vanadinite"/>
          <p:cNvSpPr/>
          <p:nvPr/>
        </p:nvSpPr>
        <p:spPr>
          <a:xfrm>
            <a:off x="7498080" y="4389120"/>
            <a:ext cx="685800" cy="685800"/>
          </a:xfrm>
          <a:prstGeom prst="roundRect">
            <a:avLst>
              <a:gd name="adj" fmla="val 8000"/>
            </a:avLst>
          </a:prstGeom>
          <a:solidFill>
            <a:schemeClr val="accent4"/>
          </a:solidFill>
          <a:ln w="12700">
            <a:solidFill>
              <a:schemeClr val="accent4"/>
            </a:solidFill>
            <a:prstDash val="solid"/>
          </a:ln>
        </p:spPr>
      </p:sp>
      <p:sp>
        <p:nvSpPr>
          <p:cNvPr id="28" name="Text 26"/>
          <p:cNvSpPr txBox="1"/>
          <p:nvPr/>
        </p:nvSpPr>
        <p:spPr>
          <a:xfrm>
            <a:off x="8412480" y="4407408"/>
            <a:ext cx="2926080" cy="365760"/>
          </a:xfrm>
          <a:prstGeom prst="rect">
            <a:avLst/>
          </a:prstGeom>
          <a:noFill/>
          <a:ln/>
        </p:spPr>
        <p:txBody>
          <a:bodyPr wrap="square" lIns="0" tIns="0" rIns="0" bIns="0" rtlCol="0" anchor="t"/>
          <a:lstStyle/>
          <a:p>
            <a:pPr indent="0" marL="0">
              <a:buNone/>
            </a:pPr>
            <a:r>
              <a:rPr lang="en-US" sz="1800" b="1" dirty="0">
                <a:solidFill>
                  <a:schemeClr val="tx1"/>
                </a:solidFill>
              </a:rPr>
              <a:t>Vanadinite</a:t>
            </a:r>
            <a:endParaRPr lang="en-US" sz="1800" dirty="0"/>
          </a:p>
        </p:txBody>
      </p:sp>
      <p:sp>
        <p:nvSpPr>
          <p:cNvPr id="29" name="Text 27"/>
          <p:cNvSpPr txBox="1"/>
          <p:nvPr/>
        </p:nvSpPr>
        <p:spPr>
          <a:xfrm>
            <a:off x="8412480" y="4754880"/>
            <a:ext cx="2926080" cy="320040"/>
          </a:xfrm>
          <a:prstGeom prst="rect">
            <a:avLst/>
          </a:prstGeom>
          <a:noFill/>
          <a:ln/>
        </p:spPr>
        <p:txBody>
          <a:bodyPr wrap="square" lIns="0" tIns="0" rIns="0" bIns="0" rtlCol="0" anchor="t"/>
          <a:lstStyle/>
          <a:p>
            <a:pPr indent="0" marL="0">
              <a:buNone/>
            </a:pPr>
            <a:r>
              <a:rPr lang="en-US" sz="1400" dirty="0">
                <a:solidFill>
                  <a:schemeClr val="tx2"/>
                </a:solidFill>
              </a:rPr>
              <a:t>orange face</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Four goals, each with a number to check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920240"/>
                <a:gridCol w="1737360"/>
                <a:gridCol w="5120640"/>
                <a:gridCol w="2286000"/>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Subsystem</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Robot</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Goal</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Measured by</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r>
              <a:tr h="640080">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Perception</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Arm camera</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Locate every ore in 3D from colour and depth images</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error vs. ground truth</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640080">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Manipulation</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UR7e arm</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Pick each ore with the magnet and drop it in its own container</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ores sorted correctly</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640080">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Path planning</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eBot</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Plan a collision-free path for each leg of the lap</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length vs. shortest</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640080">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Path following</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eBot</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Track each path and stop on every pose</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600" dirty="0">
                          <a:solidFill>
                            <a:srgbClr val="1E2226"/>
                          </a:solidFill>
                          <a:latin typeface="Calibri" pitchFamily="34" charset="0"/>
                          <a:ea typeface="Calibri" pitchFamily="34" charset="-122"/>
                          <a:cs typeface="Calibri" pitchFamily="34" charset="-120"/>
                        </a:rPr>
                        <a:t>tracking error</a:t>
                      </a:r>
                      <a:endParaRPr lang="en-US" sz="1600" dirty="0">
                        <a:latin typeface="Calibri" charset="0"/>
                        <a:ea typeface="Calibri" charset="0"/>
                        <a:cs typeface="Calibri" charset="0"/>
                      </a:endParaRPr>
                    </a:p>
                  </a:txBody>
                  <a:tcPr marL="109728" marR="109728" marT="54864" marB="54864"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bl>
          </a:graphicData>
        </a:graphic>
      </p:graphicFrame>
      <p:sp>
        <p:nvSpPr>
          <p:cNvPr id="4" name="Text 1"/>
          <p:cNvSpPr txBox="1"/>
          <p:nvPr/>
        </p:nvSpPr>
        <p:spPr>
          <a:xfrm>
            <a:off x="548640" y="4846320"/>
            <a:ext cx="11064240" cy="548640"/>
          </a:xfrm>
          <a:prstGeom prst="rect">
            <a:avLst/>
          </a:prstGeom>
          <a:noFill/>
          <a:ln/>
        </p:spPr>
        <p:txBody>
          <a:bodyPr wrap="square" lIns="0" tIns="0" rIns="0" bIns="0" rtlCol="0" anchor="t"/>
          <a:lstStyle/>
          <a:p>
            <a:pPr indent="0" marL="0">
              <a:buNone/>
            </a:pPr>
            <a:r>
              <a:rPr lang="en-US" sz="1600" b="1" dirty="0">
                <a:solidFill>
                  <a:schemeClr val="accent1"/>
                </a:solidFill>
              </a:rPr>
              <a:t>Constraint we set ourselves: no MoveIt2, no Nav2, no ready-made planner of any kind.</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Four nodes, two sense-plan-act pipelines</a:t>
            </a:r>
            <a:endParaRPr lang="en-US" sz="3200" dirty="0"/>
          </a:p>
        </p:txBody>
      </p:sp>
      <p:sp>
        <p:nvSpPr>
          <p:cNvPr id="3" name="node-sim"/>
          <p:cNvSpPr/>
          <p:nvPr/>
        </p:nvSpPr>
        <p:spPr>
          <a:xfrm>
            <a:off x="548640" y="1371600"/>
            <a:ext cx="2377440" cy="4754880"/>
          </a:xfrm>
          <a:prstGeom prst="roundRect">
            <a:avLst>
              <a:gd name="adj" fmla="val 3077"/>
            </a:avLst>
          </a:prstGeom>
          <a:solidFill>
            <a:srgbClr val="FFFFFF"/>
          </a:solidFill>
          <a:ln w="12700">
            <a:solidFill>
              <a:srgbClr val="6B7280"/>
            </a:solidFill>
            <a:prstDash val="solid"/>
          </a:ln>
        </p:spPr>
      </p:sp>
      <p:sp>
        <p:nvSpPr>
          <p:cNvPr id="4" name="Text 2"/>
          <p:cNvSpPr txBox="1"/>
          <p:nvPr/>
        </p:nvSpPr>
        <p:spPr>
          <a:xfrm>
            <a:off x="731520" y="1508760"/>
            <a:ext cx="2011680" cy="365760"/>
          </a:xfrm>
          <a:prstGeom prst="rect">
            <a:avLst/>
          </a:prstGeom>
          <a:noFill/>
          <a:ln/>
        </p:spPr>
        <p:txBody>
          <a:bodyPr wrap="square" lIns="0" tIns="0" rIns="0" bIns="0" rtlCol="0" anchor="t"/>
          <a:lstStyle/>
          <a:p>
            <a:pPr indent="0" marL="0">
              <a:buNone/>
            </a:pPr>
            <a:r>
              <a:rPr lang="en-US" sz="1600" b="1" dirty="0">
                <a:solidFill>
                  <a:schemeClr val="tx1"/>
                </a:solidFill>
              </a:rPr>
              <a:t>Gazebo Harmonic</a:t>
            </a:r>
            <a:endParaRPr lang="en-US" sz="1600" dirty="0"/>
          </a:p>
        </p:txBody>
      </p:sp>
      <p:sp>
        <p:nvSpPr>
          <p:cNvPr id="5" name="Text 3"/>
          <p:cNvSpPr txBox="1"/>
          <p:nvPr/>
        </p:nvSpPr>
        <p:spPr>
          <a:xfrm>
            <a:off x="731520" y="1920240"/>
            <a:ext cx="2011680" cy="4114800"/>
          </a:xfrm>
          <a:prstGeom prst="rect">
            <a:avLst/>
          </a:prstGeom>
          <a:noFill/>
          <a:ln/>
        </p:spPr>
        <p:txBody>
          <a:bodyPr wrap="square" lIns="0" tIns="0" rIns="0" bIns="0" rtlCol="0" anchor="t"/>
          <a:lstStyle/>
          <a:p>
            <a:pPr indent="0" marL="0">
              <a:buNone/>
            </a:pPr>
            <a:r>
              <a:rPr lang="en-US" sz="1300" dirty="0">
                <a:solidFill>
                  <a:schemeClr val="tx2"/>
                </a:solidFill>
              </a:rPr>
              <a:t>UR7e arm + magnet</a:t>
            </a:r>
            <a:endParaRPr lang="en-US" sz="1300" dirty="0"/>
          </a:p>
          <a:p>
            <a:pPr indent="0" marL="0">
              <a:buNone/>
            </a:pPr>
            <a:r>
              <a:rPr lang="en-US" sz="1300" dirty="0">
                <a:solidFill>
                  <a:schemeClr val="tx2"/>
                </a:solidFill>
              </a:rPr>
              <a:t>RealSense D435i</a:t>
            </a:r>
            <a:endParaRPr lang="en-US" sz="1300" dirty="0"/>
          </a:p>
          <a:p>
            <a:pPr indent="0" marL="0">
              <a:buNone/>
            </a:pPr>
            <a:r>
              <a:rPr lang="en-US" sz="1300" dirty="0">
                <a:solidFill>
                  <a:schemeClr val="tx2"/>
                </a:solidFill>
              </a:rPr>
              <a:t>eBot + lidar</a:t>
            </a:r>
            <a:endParaRPr lang="en-US" sz="1300" dirty="0"/>
          </a:p>
          <a:p>
            <a:pPr indent="0" marL="0">
              <a:buNone/>
            </a:pPr>
            <a:r>
              <a:rPr lang="en-US" sz="1300" dirty="0">
                <a:solidFill>
                  <a:schemeClr val="tx2"/>
                </a:solidFill>
              </a:rPr>
              <a:t>rocks and /map</a:t>
            </a:r>
            <a:endParaRPr lang="en-US" sz="1300" dirty="0"/>
          </a:p>
          <a:p>
            <a:pPr indent="0" marL="0">
              <a:buNone/>
            </a:pPr>
            <a:endParaRPr lang="en-US" sz="1300" dirty="0"/>
          </a:p>
          <a:p>
            <a:pPr indent="0" marL="0">
              <a:buNone/>
            </a:pPr>
            <a:r>
              <a:rPr lang="en-US" sz="1300" dirty="0">
                <a:solidFill>
                  <a:schemeClr val="tx2"/>
                </a:solidFill>
              </a:rPr>
              <a:t>ROS 2 Jazzy bridge</a:t>
            </a:r>
            <a:endParaRPr lang="en-US" sz="1300" dirty="0"/>
          </a:p>
        </p:txBody>
      </p:sp>
      <p:sp>
        <p:nvSpPr>
          <p:cNvPr id="6" name="Text 4"/>
          <p:cNvSpPr txBox="1"/>
          <p:nvPr/>
        </p:nvSpPr>
        <p:spPr>
          <a:xfrm>
            <a:off x="4023360" y="1325880"/>
            <a:ext cx="2743200" cy="274320"/>
          </a:xfrm>
          <a:prstGeom prst="rect">
            <a:avLst/>
          </a:prstGeom>
          <a:noFill/>
          <a:ln/>
        </p:spPr>
        <p:txBody>
          <a:bodyPr wrap="square" lIns="0" tIns="0" rIns="0" bIns="0" rtlCol="0" anchor="t"/>
          <a:lstStyle/>
          <a:p>
            <a:pPr indent="0" marL="0">
              <a:buNone/>
            </a:pPr>
            <a:r>
              <a:rPr lang="en-US" sz="1300" dirty="0">
                <a:solidFill>
                  <a:schemeClr val="accent5"/>
                </a:solidFill>
              </a:rPr>
              <a:t>Manipulator</a:t>
            </a:r>
            <a:endParaRPr lang="en-US" sz="1300" dirty="0"/>
          </a:p>
        </p:txBody>
      </p:sp>
      <p:sp>
        <p:nvSpPr>
          <p:cNvPr id="7" name="node-perception"/>
          <p:cNvSpPr/>
          <p:nvPr/>
        </p:nvSpPr>
        <p:spPr>
          <a:xfrm>
            <a:off x="4023360" y="1645920"/>
            <a:ext cx="3108960" cy="1554480"/>
          </a:xfrm>
          <a:prstGeom prst="roundRect">
            <a:avLst>
              <a:gd name="adj" fmla="val 4706"/>
            </a:avLst>
          </a:prstGeom>
          <a:solidFill>
            <a:srgbClr val="FFFFFF"/>
          </a:solidFill>
          <a:ln w="12700">
            <a:solidFill>
              <a:srgbClr val="6B7280"/>
            </a:solidFill>
            <a:prstDash val="solid"/>
          </a:ln>
        </p:spPr>
      </p:sp>
      <p:sp>
        <p:nvSpPr>
          <p:cNvPr id="8" name="Text 6"/>
          <p:cNvSpPr txBox="1"/>
          <p:nvPr/>
        </p:nvSpPr>
        <p:spPr>
          <a:xfrm>
            <a:off x="4206240" y="1783080"/>
            <a:ext cx="2743200" cy="365760"/>
          </a:xfrm>
          <a:prstGeom prst="rect">
            <a:avLst/>
          </a:prstGeom>
          <a:noFill/>
          <a:ln/>
        </p:spPr>
        <p:txBody>
          <a:bodyPr wrap="square" lIns="0" tIns="0" rIns="0" bIns="0" rtlCol="0" anchor="t"/>
          <a:lstStyle/>
          <a:p>
            <a:pPr indent="0" marL="0">
              <a:buNone/>
            </a:pPr>
            <a:r>
              <a:rPr lang="en-US" sz="1600" b="1" dirty="0">
                <a:solidFill>
                  <a:schemeClr val="tx1"/>
                </a:solidFill>
              </a:rPr>
              <a:t>ore_perception</a:t>
            </a:r>
            <a:endParaRPr lang="en-US" sz="1600" dirty="0"/>
          </a:p>
        </p:txBody>
      </p:sp>
      <p:sp>
        <p:nvSpPr>
          <p:cNvPr id="9" name="Text 7"/>
          <p:cNvSpPr txBox="1"/>
          <p:nvPr/>
        </p:nvSpPr>
        <p:spPr>
          <a:xfrm>
            <a:off x="4206240" y="2194560"/>
            <a:ext cx="2743200" cy="914400"/>
          </a:xfrm>
          <a:prstGeom prst="rect">
            <a:avLst/>
          </a:prstGeom>
          <a:noFill/>
          <a:ln/>
        </p:spPr>
        <p:txBody>
          <a:bodyPr wrap="square" lIns="0" tIns="0" rIns="0" bIns="0" rtlCol="0" anchor="t"/>
          <a:lstStyle/>
          <a:p>
            <a:pPr indent="0" marL="0">
              <a:buNone/>
            </a:pPr>
            <a:r>
              <a:rPr lang="en-US" sz="1300" dirty="0">
                <a:solidFill>
                  <a:schemeClr val="tx2"/>
                </a:solidFill>
              </a:rPr>
              <a:t>HSV face detection</a:t>
            </a:r>
            <a:endParaRPr lang="en-US" sz="1300" dirty="0"/>
          </a:p>
          <a:p>
            <a:pPr indent="0" marL="0">
              <a:buNone/>
            </a:pPr>
            <a:r>
              <a:rPr lang="en-US" sz="1300" dirty="0">
                <a:solidFill>
                  <a:schemeClr val="tx2"/>
                </a:solidFill>
              </a:rPr>
              <a:t>depth back-projection</a:t>
            </a:r>
            <a:endParaRPr lang="en-US" sz="1300" dirty="0"/>
          </a:p>
          <a:p>
            <a:pPr indent="0" marL="0">
              <a:buNone/>
            </a:pPr>
            <a:r>
              <a:rPr lang="en-US" sz="1300" dirty="0">
                <a:solidFill>
                  <a:schemeClr val="tx2"/>
                </a:solidFill>
              </a:rPr>
              <a:t>median per ore</a:t>
            </a:r>
            <a:endParaRPr lang="en-US" sz="1300" dirty="0"/>
          </a:p>
        </p:txBody>
      </p:sp>
      <p:sp>
        <p:nvSpPr>
          <p:cNvPr id="10" name="node-manipulation"/>
          <p:cNvSpPr/>
          <p:nvPr/>
        </p:nvSpPr>
        <p:spPr>
          <a:xfrm>
            <a:off x="8321040" y="1645920"/>
            <a:ext cx="3291840" cy="1554480"/>
          </a:xfrm>
          <a:prstGeom prst="roundRect">
            <a:avLst>
              <a:gd name="adj" fmla="val 4706"/>
            </a:avLst>
          </a:prstGeom>
          <a:solidFill>
            <a:srgbClr val="FBEDE6"/>
          </a:solidFill>
          <a:ln w="22225">
            <a:solidFill>
              <a:srgbClr val="C4501F"/>
            </a:solidFill>
            <a:prstDash val="solid"/>
          </a:ln>
        </p:spPr>
      </p:sp>
      <p:sp>
        <p:nvSpPr>
          <p:cNvPr id="11" name="Text 9"/>
          <p:cNvSpPr txBox="1"/>
          <p:nvPr/>
        </p:nvSpPr>
        <p:spPr>
          <a:xfrm>
            <a:off x="8503920" y="1783080"/>
            <a:ext cx="2926080" cy="365760"/>
          </a:xfrm>
          <a:prstGeom prst="rect">
            <a:avLst/>
          </a:prstGeom>
          <a:noFill/>
          <a:ln/>
        </p:spPr>
        <p:txBody>
          <a:bodyPr wrap="square" lIns="0" tIns="0" rIns="0" bIns="0" rtlCol="0" anchor="t"/>
          <a:lstStyle/>
          <a:p>
            <a:pPr indent="0" marL="0">
              <a:buNone/>
            </a:pPr>
            <a:r>
              <a:rPr lang="en-US" sz="1600" b="1" dirty="0">
                <a:solidFill>
                  <a:schemeClr val="tx1"/>
                </a:solidFill>
              </a:rPr>
              <a:t>arm_manipulation</a:t>
            </a:r>
            <a:endParaRPr lang="en-US" sz="1600" dirty="0"/>
          </a:p>
        </p:txBody>
      </p:sp>
      <p:sp>
        <p:nvSpPr>
          <p:cNvPr id="12" name="Text 10"/>
          <p:cNvSpPr txBox="1"/>
          <p:nvPr/>
        </p:nvSpPr>
        <p:spPr>
          <a:xfrm>
            <a:off x="8503920" y="2194560"/>
            <a:ext cx="2926080" cy="914400"/>
          </a:xfrm>
          <a:prstGeom prst="rect">
            <a:avLst/>
          </a:prstGeom>
          <a:noFill/>
          <a:ln/>
        </p:spPr>
        <p:txBody>
          <a:bodyPr wrap="square" lIns="0" tIns="0" rIns="0" bIns="0" rtlCol="0" anchor="t"/>
          <a:lstStyle/>
          <a:p>
            <a:pPr indent="0" marL="0">
              <a:buNone/>
            </a:pPr>
            <a:r>
              <a:rPr lang="en-US" sz="1300" dirty="0">
                <a:solidFill>
                  <a:schemeClr val="tx2"/>
                </a:solidFill>
              </a:rPr>
              <a:t>damped least-squares IK</a:t>
            </a:r>
            <a:endParaRPr lang="en-US" sz="1300" dirty="0"/>
          </a:p>
          <a:p>
            <a:pPr indent="0" marL="0">
              <a:buNone/>
            </a:pPr>
            <a:r>
              <a:rPr lang="en-US" sz="1300" dirty="0">
                <a:solidFill>
                  <a:schemeClr val="tx2"/>
                </a:solidFill>
              </a:rPr>
              <a:t>collision-checked routes</a:t>
            </a:r>
            <a:endParaRPr lang="en-US" sz="1300" dirty="0"/>
          </a:p>
          <a:p>
            <a:pPr indent="0" marL="0">
              <a:buNone/>
            </a:pPr>
            <a:r>
              <a:rPr lang="en-US" sz="1300" dirty="0">
                <a:solidFill>
                  <a:schemeClr val="tx2"/>
                </a:solidFill>
              </a:rPr>
              <a:t>force-checked picks</a:t>
            </a:r>
            <a:endParaRPr lang="en-US" sz="1300" dirty="0"/>
          </a:p>
        </p:txBody>
      </p:sp>
      <p:sp>
        <p:nvSpPr>
          <p:cNvPr id="13" name="Text 11"/>
          <p:cNvSpPr txBox="1"/>
          <p:nvPr/>
        </p:nvSpPr>
        <p:spPr>
          <a:xfrm>
            <a:off x="4023360" y="3794760"/>
            <a:ext cx="2743200" cy="274320"/>
          </a:xfrm>
          <a:prstGeom prst="rect">
            <a:avLst/>
          </a:prstGeom>
          <a:noFill/>
          <a:ln/>
        </p:spPr>
        <p:txBody>
          <a:bodyPr wrap="square" lIns="0" tIns="0" rIns="0" bIns="0" rtlCol="0" anchor="t"/>
          <a:lstStyle/>
          <a:p>
            <a:pPr indent="0" marL="0">
              <a:buNone/>
            </a:pPr>
            <a:r>
              <a:rPr lang="en-US" sz="1300" dirty="0">
                <a:solidFill>
                  <a:schemeClr val="accent5"/>
                </a:solidFill>
              </a:rPr>
              <a:t>Mobile robot</a:t>
            </a:r>
            <a:endParaRPr lang="en-US" sz="1300" dirty="0"/>
          </a:p>
        </p:txBody>
      </p:sp>
      <p:sp>
        <p:nvSpPr>
          <p:cNvPr id="14" name="node-planning"/>
          <p:cNvSpPr/>
          <p:nvPr/>
        </p:nvSpPr>
        <p:spPr>
          <a:xfrm>
            <a:off x="4023360" y="4114800"/>
            <a:ext cx="3108960" cy="1554480"/>
          </a:xfrm>
          <a:prstGeom prst="roundRect">
            <a:avLst>
              <a:gd name="adj" fmla="val 4706"/>
            </a:avLst>
          </a:prstGeom>
          <a:solidFill>
            <a:srgbClr val="FBEDE6"/>
          </a:solidFill>
          <a:ln w="22225">
            <a:solidFill>
              <a:srgbClr val="C4501F"/>
            </a:solidFill>
            <a:prstDash val="solid"/>
          </a:ln>
        </p:spPr>
      </p:sp>
      <p:sp>
        <p:nvSpPr>
          <p:cNvPr id="15" name="Text 13"/>
          <p:cNvSpPr txBox="1"/>
          <p:nvPr/>
        </p:nvSpPr>
        <p:spPr>
          <a:xfrm>
            <a:off x="4206240" y="4251960"/>
            <a:ext cx="2743200" cy="365760"/>
          </a:xfrm>
          <a:prstGeom prst="rect">
            <a:avLst/>
          </a:prstGeom>
          <a:noFill/>
          <a:ln/>
        </p:spPr>
        <p:txBody>
          <a:bodyPr wrap="square" lIns="0" tIns="0" rIns="0" bIns="0" rtlCol="0" anchor="t"/>
          <a:lstStyle/>
          <a:p>
            <a:pPr indent="0" marL="0">
              <a:buNone/>
            </a:pPr>
            <a:r>
              <a:rPr lang="en-US" sz="1600" b="1" dirty="0">
                <a:solidFill>
                  <a:schemeClr val="tx1"/>
                </a:solidFill>
              </a:rPr>
              <a:t>path_planning</a:t>
            </a:r>
            <a:endParaRPr lang="en-US" sz="1600" dirty="0"/>
          </a:p>
        </p:txBody>
      </p:sp>
      <p:sp>
        <p:nvSpPr>
          <p:cNvPr id="16" name="Text 14"/>
          <p:cNvSpPr txBox="1"/>
          <p:nvPr/>
        </p:nvSpPr>
        <p:spPr>
          <a:xfrm>
            <a:off x="4206240" y="4663440"/>
            <a:ext cx="2743200" cy="914400"/>
          </a:xfrm>
          <a:prstGeom prst="rect">
            <a:avLst/>
          </a:prstGeom>
          <a:noFill/>
          <a:ln/>
        </p:spPr>
        <p:txBody>
          <a:bodyPr wrap="square" lIns="0" tIns="0" rIns="0" bIns="0" rtlCol="0" anchor="t"/>
          <a:lstStyle/>
          <a:p>
            <a:pPr indent="0" marL="0">
              <a:buNone/>
            </a:pPr>
            <a:r>
              <a:rPr lang="en-US" sz="1300" dirty="0">
                <a:solidFill>
                  <a:schemeClr val="tx2"/>
                </a:solidFill>
              </a:rPr>
              <a:t>clearance map</a:t>
            </a:r>
            <a:endParaRPr lang="en-US" sz="1300" dirty="0"/>
          </a:p>
          <a:p>
            <a:pPr indent="0" marL="0">
              <a:buNone/>
            </a:pPr>
            <a:r>
              <a:rPr lang="en-US" sz="1300" dirty="0">
                <a:solidFill>
                  <a:schemeClr val="tx2"/>
                </a:solidFill>
              </a:rPr>
              <a:t>A*, shortcut, tighten</a:t>
            </a:r>
            <a:endParaRPr lang="en-US" sz="1300" dirty="0"/>
          </a:p>
          <a:p>
            <a:pPr indent="0" marL="0">
              <a:buNone/>
            </a:pPr>
            <a:r>
              <a:rPr lang="en-US" sz="1300" dirty="0">
                <a:solidFill>
                  <a:schemeClr val="tx2"/>
                </a:solidFill>
              </a:rPr>
              <a:t>lap sequencing</a:t>
            </a:r>
            <a:endParaRPr lang="en-US" sz="1300" dirty="0"/>
          </a:p>
        </p:txBody>
      </p:sp>
      <p:sp>
        <p:nvSpPr>
          <p:cNvPr id="17" name="node-navigation"/>
          <p:cNvSpPr/>
          <p:nvPr/>
        </p:nvSpPr>
        <p:spPr>
          <a:xfrm>
            <a:off x="8321040" y="4114800"/>
            <a:ext cx="3291840" cy="1554480"/>
          </a:xfrm>
          <a:prstGeom prst="roundRect">
            <a:avLst>
              <a:gd name="adj" fmla="val 4706"/>
            </a:avLst>
          </a:prstGeom>
          <a:solidFill>
            <a:srgbClr val="FFFFFF"/>
          </a:solidFill>
          <a:ln w="12700">
            <a:solidFill>
              <a:srgbClr val="6B7280"/>
            </a:solidFill>
            <a:prstDash val="solid"/>
          </a:ln>
        </p:spPr>
      </p:sp>
      <p:sp>
        <p:nvSpPr>
          <p:cNvPr id="18" name="Text 16"/>
          <p:cNvSpPr txBox="1"/>
          <p:nvPr/>
        </p:nvSpPr>
        <p:spPr>
          <a:xfrm>
            <a:off x="8503920" y="4251960"/>
            <a:ext cx="2926080" cy="365760"/>
          </a:xfrm>
          <a:prstGeom prst="rect">
            <a:avLst/>
          </a:prstGeom>
          <a:noFill/>
          <a:ln/>
        </p:spPr>
        <p:txBody>
          <a:bodyPr wrap="square" lIns="0" tIns="0" rIns="0" bIns="0" rtlCol="0" anchor="t"/>
          <a:lstStyle/>
          <a:p>
            <a:pPr indent="0" marL="0">
              <a:buNone/>
            </a:pPr>
            <a:r>
              <a:rPr lang="en-US" sz="1600" b="1" dirty="0">
                <a:solidFill>
                  <a:schemeClr val="tx1"/>
                </a:solidFill>
              </a:rPr>
              <a:t>path_following</a:t>
            </a:r>
            <a:endParaRPr lang="en-US" sz="1600" dirty="0"/>
          </a:p>
        </p:txBody>
      </p:sp>
      <p:sp>
        <p:nvSpPr>
          <p:cNvPr id="19" name="Text 17"/>
          <p:cNvSpPr txBox="1"/>
          <p:nvPr/>
        </p:nvSpPr>
        <p:spPr>
          <a:xfrm>
            <a:off x="8503920" y="4663440"/>
            <a:ext cx="2926080" cy="914400"/>
          </a:xfrm>
          <a:prstGeom prst="rect">
            <a:avLst/>
          </a:prstGeom>
          <a:noFill/>
          <a:ln/>
        </p:spPr>
        <p:txBody>
          <a:bodyPr wrap="square" lIns="0" tIns="0" rIns="0" bIns="0" rtlCol="0" anchor="t"/>
          <a:lstStyle/>
          <a:p>
            <a:pPr indent="0" marL="0">
              <a:buNone/>
            </a:pPr>
            <a:r>
              <a:rPr lang="en-US" sz="1300" dirty="0">
                <a:solidFill>
                  <a:schemeClr val="tx2"/>
                </a:solidFill>
              </a:rPr>
              <a:t>pure pursuit</a:t>
            </a:r>
            <a:endParaRPr lang="en-US" sz="1300" dirty="0"/>
          </a:p>
          <a:p>
            <a:pPr indent="0" marL="0">
              <a:buNone/>
            </a:pPr>
            <a:r>
              <a:rPr lang="en-US" sz="1300" dirty="0">
                <a:solidFill>
                  <a:schemeClr val="tx2"/>
                </a:solidFill>
              </a:rPr>
              <a:t>turn to final heading</a:t>
            </a:r>
            <a:endParaRPr lang="en-US" sz="1300" dirty="0"/>
          </a:p>
          <a:p>
            <a:pPr indent="0" marL="0">
              <a:buNone/>
            </a:pPr>
            <a:r>
              <a:rPr lang="en-US" sz="1300" dirty="0">
                <a:solidFill>
                  <a:schemeClr val="tx2"/>
                </a:solidFill>
              </a:rPr>
              <a:t>stop on the pose</a:t>
            </a:r>
            <a:endParaRPr lang="en-US" sz="1300" dirty="0"/>
          </a:p>
        </p:txBody>
      </p:sp>
      <p:sp>
        <p:nvSpPr>
          <p:cNvPr id="20" name="a-rgbd"/>
          <p:cNvSpPr/>
          <p:nvPr/>
        </p:nvSpPr>
        <p:spPr>
          <a:xfrm>
            <a:off x="2926080" y="2103120"/>
            <a:ext cx="1097280" cy="0"/>
          </a:xfrm>
          <a:prstGeom prst="line">
            <a:avLst/>
          </a:prstGeom>
          <a:noFill/>
          <a:ln w="19050">
            <a:solidFill>
              <a:srgbClr val="6B7280"/>
            </a:solidFill>
            <a:prstDash val="solid"/>
            <a:tailEnd type="triangle"/>
          </a:ln>
        </p:spPr>
      </p:sp>
      <p:sp>
        <p:nvSpPr>
          <p:cNvPr id="21" name="Text 19"/>
          <p:cNvSpPr txBox="1"/>
          <p:nvPr/>
        </p:nvSpPr>
        <p:spPr>
          <a:xfrm>
            <a:off x="2971800" y="1783080"/>
            <a:ext cx="1051560" cy="274320"/>
          </a:xfrm>
          <a:prstGeom prst="rect">
            <a:avLst/>
          </a:prstGeom>
          <a:noFill/>
          <a:ln/>
        </p:spPr>
        <p:txBody>
          <a:bodyPr wrap="square" lIns="0" tIns="0" rIns="0" bIns="0" rtlCol="0" anchor="t"/>
          <a:lstStyle/>
          <a:p>
            <a:pPr algn="ctr" indent="0" marL="0">
              <a:buNone/>
            </a:pPr>
            <a:r>
              <a:rPr lang="en-US" sz="1100" dirty="0">
                <a:solidFill>
                  <a:schemeClr val="tx2"/>
                </a:solidFill>
              </a:rPr>
              <a:t>RGB-D images</a:t>
            </a:r>
            <a:endParaRPr lang="en-US" sz="1100" dirty="0"/>
          </a:p>
        </p:txBody>
      </p:sp>
      <p:sp>
        <p:nvSpPr>
          <p:cNvPr id="22" name="a-tf"/>
          <p:cNvSpPr/>
          <p:nvPr/>
        </p:nvSpPr>
        <p:spPr>
          <a:xfrm>
            <a:off x="7132320" y="2103120"/>
            <a:ext cx="1188720" cy="0"/>
          </a:xfrm>
          <a:prstGeom prst="line">
            <a:avLst/>
          </a:prstGeom>
          <a:noFill/>
          <a:ln w="19050">
            <a:solidFill>
              <a:srgbClr val="6B7280"/>
            </a:solidFill>
            <a:prstDash val="solid"/>
            <a:tailEnd type="triangle"/>
          </a:ln>
        </p:spPr>
      </p:sp>
      <p:sp>
        <p:nvSpPr>
          <p:cNvPr id="23" name="Text 21"/>
          <p:cNvSpPr txBox="1"/>
          <p:nvPr/>
        </p:nvSpPr>
        <p:spPr>
          <a:xfrm>
            <a:off x="7132320" y="1783080"/>
            <a:ext cx="1188720" cy="274320"/>
          </a:xfrm>
          <a:prstGeom prst="rect">
            <a:avLst/>
          </a:prstGeom>
          <a:noFill/>
          <a:ln/>
        </p:spPr>
        <p:txBody>
          <a:bodyPr wrap="square" lIns="0" tIns="0" rIns="0" bIns="0" rtlCol="0" anchor="t"/>
          <a:lstStyle/>
          <a:p>
            <a:pPr algn="ctr" indent="0" marL="0">
              <a:buNone/>
            </a:pPr>
            <a:r>
              <a:rPr lang="en-US" sz="1100" dirty="0">
                <a:solidFill>
                  <a:schemeClr val="tx2"/>
                </a:solidFill>
              </a:rPr>
              <a:t>/tf ore frames</a:t>
            </a:r>
            <a:endParaRPr lang="en-US" sz="1100" dirty="0"/>
          </a:p>
        </p:txBody>
      </p:sp>
      <p:sp>
        <p:nvSpPr>
          <p:cNvPr id="24" name="a-map"/>
          <p:cNvSpPr/>
          <p:nvPr/>
        </p:nvSpPr>
        <p:spPr>
          <a:xfrm>
            <a:off x="2926080" y="4572000"/>
            <a:ext cx="1097280" cy="0"/>
          </a:xfrm>
          <a:prstGeom prst="line">
            <a:avLst/>
          </a:prstGeom>
          <a:noFill/>
          <a:ln w="19050">
            <a:solidFill>
              <a:srgbClr val="6B7280"/>
            </a:solidFill>
            <a:prstDash val="solid"/>
            <a:tailEnd type="triangle"/>
          </a:ln>
        </p:spPr>
      </p:sp>
      <p:sp>
        <p:nvSpPr>
          <p:cNvPr id="25" name="Text 23"/>
          <p:cNvSpPr txBox="1"/>
          <p:nvPr/>
        </p:nvSpPr>
        <p:spPr>
          <a:xfrm>
            <a:off x="2971800" y="4251960"/>
            <a:ext cx="1051560" cy="274320"/>
          </a:xfrm>
          <a:prstGeom prst="rect">
            <a:avLst/>
          </a:prstGeom>
          <a:noFill/>
          <a:ln/>
        </p:spPr>
        <p:txBody>
          <a:bodyPr wrap="square" lIns="0" tIns="0" rIns="0" bIns="0" rtlCol="0" anchor="t"/>
          <a:lstStyle/>
          <a:p>
            <a:pPr algn="ctr" indent="0" marL="0">
              <a:buNone/>
            </a:pPr>
            <a:r>
              <a:rPr lang="en-US" sz="1100" dirty="0">
                <a:solidFill>
                  <a:schemeClr val="tx2"/>
                </a:solidFill>
              </a:rPr>
              <a:t>/map, /odom</a:t>
            </a:r>
            <a:endParaRPr lang="en-US" sz="1100" dirty="0"/>
          </a:p>
        </p:txBody>
      </p:sp>
      <p:sp>
        <p:nvSpPr>
          <p:cNvPr id="26" name="a-path"/>
          <p:cNvSpPr/>
          <p:nvPr/>
        </p:nvSpPr>
        <p:spPr>
          <a:xfrm>
            <a:off x="7132320" y="4572000"/>
            <a:ext cx="1188720" cy="0"/>
          </a:xfrm>
          <a:prstGeom prst="line">
            <a:avLst/>
          </a:prstGeom>
          <a:noFill/>
          <a:ln w="19050">
            <a:solidFill>
              <a:srgbClr val="6B7280"/>
            </a:solidFill>
            <a:prstDash val="solid"/>
            <a:tailEnd type="triangle"/>
          </a:ln>
        </p:spPr>
      </p:sp>
      <p:sp>
        <p:nvSpPr>
          <p:cNvPr id="27" name="Text 25"/>
          <p:cNvSpPr txBox="1"/>
          <p:nvPr/>
        </p:nvSpPr>
        <p:spPr>
          <a:xfrm>
            <a:off x="7132320" y="4251960"/>
            <a:ext cx="1188720" cy="274320"/>
          </a:xfrm>
          <a:prstGeom prst="rect">
            <a:avLst/>
          </a:prstGeom>
          <a:noFill/>
          <a:ln/>
        </p:spPr>
        <p:txBody>
          <a:bodyPr wrap="square" lIns="0" tIns="0" rIns="0" bIns="0" rtlCol="0" anchor="t"/>
          <a:lstStyle/>
          <a:p>
            <a:pPr algn="ctr" indent="0" marL="0">
              <a:buNone/>
            </a:pPr>
            <a:r>
              <a:rPr lang="en-US" sz="1100" dirty="0">
                <a:solidFill>
                  <a:schemeClr val="tx2"/>
                </a:solidFill>
              </a:rPr>
              <a:t>/ebot_path</a:t>
            </a:r>
            <a:endParaRPr lang="en-US" sz="1100" dirty="0"/>
          </a:p>
        </p:txBody>
      </p:sp>
      <p:sp>
        <p:nvSpPr>
          <p:cNvPr id="28" name="r-arm-1"/>
          <p:cNvSpPr/>
          <p:nvPr/>
        </p:nvSpPr>
        <p:spPr>
          <a:xfrm>
            <a:off x="9966960" y="3200400"/>
            <a:ext cx="0" cy="320040"/>
          </a:xfrm>
          <a:prstGeom prst="line">
            <a:avLst/>
          </a:prstGeom>
          <a:noFill/>
          <a:ln w="19050">
            <a:solidFill>
              <a:srgbClr val="6B7280"/>
            </a:solidFill>
            <a:prstDash val="solid"/>
          </a:ln>
        </p:spPr>
      </p:sp>
      <p:sp>
        <p:nvSpPr>
          <p:cNvPr id="29" name="r-arm-2"/>
          <p:cNvSpPr/>
          <p:nvPr/>
        </p:nvSpPr>
        <p:spPr>
          <a:xfrm>
            <a:off x="2926080" y="3520440"/>
            <a:ext cx="7040880" cy="0"/>
          </a:xfrm>
          <a:prstGeom prst="line">
            <a:avLst/>
          </a:prstGeom>
          <a:noFill/>
          <a:ln w="19050">
            <a:solidFill>
              <a:srgbClr val="6B7280"/>
            </a:solidFill>
            <a:prstDash val="solid"/>
            <a:tailEnd type="triangle"/>
          </a:ln>
        </p:spPr>
      </p:sp>
      <p:sp>
        <p:nvSpPr>
          <p:cNvPr id="30" name="Text 28"/>
          <p:cNvSpPr txBox="1"/>
          <p:nvPr/>
        </p:nvSpPr>
        <p:spPr>
          <a:xfrm>
            <a:off x="4023360" y="3246120"/>
            <a:ext cx="3108960" cy="274320"/>
          </a:xfrm>
          <a:prstGeom prst="rect">
            <a:avLst/>
          </a:prstGeom>
          <a:noFill/>
          <a:ln/>
        </p:spPr>
        <p:txBody>
          <a:bodyPr wrap="square" lIns="0" tIns="0" rIns="0" bIns="0" rtlCol="0" anchor="t"/>
          <a:lstStyle/>
          <a:p>
            <a:pPr indent="0" marL="0">
              <a:buNone/>
            </a:pPr>
            <a:r>
              <a:rPr lang="en-US" sz="1100" dirty="0">
                <a:solidFill>
                  <a:schemeClr val="tx2"/>
                </a:solidFill>
              </a:rPr>
              <a:t>/delta_joint_cmds, /magnet</a:t>
            </a:r>
            <a:endParaRPr lang="en-US" sz="1100" dirty="0"/>
          </a:p>
        </p:txBody>
      </p:sp>
      <p:sp>
        <p:nvSpPr>
          <p:cNvPr id="31" name="r-ebot-1"/>
          <p:cNvSpPr/>
          <p:nvPr/>
        </p:nvSpPr>
        <p:spPr>
          <a:xfrm>
            <a:off x="9966960" y="5669280"/>
            <a:ext cx="0" cy="320040"/>
          </a:xfrm>
          <a:prstGeom prst="line">
            <a:avLst/>
          </a:prstGeom>
          <a:noFill/>
          <a:ln w="19050">
            <a:solidFill>
              <a:srgbClr val="6B7280"/>
            </a:solidFill>
            <a:prstDash val="solid"/>
          </a:ln>
        </p:spPr>
      </p:sp>
      <p:sp>
        <p:nvSpPr>
          <p:cNvPr id="32" name="r-ebot-2"/>
          <p:cNvSpPr/>
          <p:nvPr/>
        </p:nvSpPr>
        <p:spPr>
          <a:xfrm>
            <a:off x="2926080" y="5989320"/>
            <a:ext cx="7040880" cy="0"/>
          </a:xfrm>
          <a:prstGeom prst="line">
            <a:avLst/>
          </a:prstGeom>
          <a:noFill/>
          <a:ln w="19050">
            <a:solidFill>
              <a:srgbClr val="6B7280"/>
            </a:solidFill>
            <a:prstDash val="solid"/>
            <a:tailEnd type="triangle"/>
          </a:ln>
        </p:spPr>
      </p:sp>
      <p:sp>
        <p:nvSpPr>
          <p:cNvPr id="33" name="Text 31"/>
          <p:cNvSpPr txBox="1"/>
          <p:nvPr/>
        </p:nvSpPr>
        <p:spPr>
          <a:xfrm>
            <a:off x="4023360" y="6035040"/>
            <a:ext cx="4114800" cy="274320"/>
          </a:xfrm>
          <a:prstGeom prst="rect">
            <a:avLst/>
          </a:prstGeom>
          <a:noFill/>
          <a:ln/>
        </p:spPr>
        <p:txBody>
          <a:bodyPr wrap="square" lIns="0" tIns="0" rIns="0" bIns="0" rtlCol="0" anchor="t"/>
          <a:lstStyle/>
          <a:p>
            <a:pPr indent="0" marL="0">
              <a:buNone/>
            </a:pPr>
            <a:r>
              <a:rPr lang="en-US" sz="1100" dirty="0">
                <a:solidFill>
                  <a:schemeClr val="tx2"/>
                </a:solidFill>
              </a:rPr>
              <a:t>/cmd_vel  ·  /spawn_ore_package</a:t>
            </a:r>
            <a:endParaRPr lang="en-US" sz="11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Find each ore by shape, name it by a colour vote</a:t>
            </a:r>
            <a:endParaRPr lang="en-US" sz="3200" dirty="0"/>
          </a:p>
        </p:txBody>
      </p:sp>
      <p:pic>
        <p:nvPicPr>
          <p:cNvPr id="3" name="camera-detections" descr="Camera frame with azurite, malachite and two vanadinite ores outlined on the conveyor">    </p:cNvPr>
          <p:cNvPicPr>
            <a:picLocks noChangeAspect="1"/>
          </p:cNvPicPr>
          <p:nvPr/>
        </p:nvPicPr>
        <p:blipFill>
          <a:blip r:embed="rId1"/>
          <a:stretch>
            <a:fillRect/>
          </a:stretch>
        </p:blipFill>
        <p:spPr>
          <a:xfrm>
            <a:off x="548640" y="1371600"/>
            <a:ext cx="5852160" cy="4389120"/>
          </a:xfrm>
          <a:prstGeom prst="rect">
            <a:avLst/>
          </a:prstGeom>
        </p:spPr>
      </p:pic>
      <p:sp>
        <p:nvSpPr>
          <p:cNvPr id="4" name="stat-error"/>
          <p:cNvSpPr txBox="1"/>
          <p:nvPr/>
        </p:nvSpPr>
        <p:spPr>
          <a:xfrm>
            <a:off x="6858000" y="1371600"/>
            <a:ext cx="2286000" cy="868680"/>
          </a:xfrm>
          <a:prstGeom prst="rect">
            <a:avLst/>
          </a:prstGeom>
          <a:noFill/>
          <a:ln/>
        </p:spPr>
        <p:txBody>
          <a:bodyPr wrap="square" lIns="0" tIns="0" rIns="0" bIns="0" rtlCol="0" anchor="b"/>
          <a:lstStyle/>
          <a:p>
            <a:pPr indent="0" marL="0">
              <a:buNone/>
            </a:pPr>
            <a:r>
              <a:rPr lang="en-US" sz="4800" b="1" dirty="0">
                <a:solidFill>
                  <a:schemeClr val="accent1"/>
                </a:solidFill>
              </a:rPr>
              <a:t>2-3 mm</a:t>
            </a:r>
            <a:endParaRPr lang="en-US" sz="4800" dirty="0"/>
          </a:p>
        </p:txBody>
      </p:sp>
      <p:sp>
        <p:nvSpPr>
          <p:cNvPr id="5" name="Text 2"/>
          <p:cNvSpPr txBox="1"/>
          <p:nvPr/>
        </p:nvSpPr>
        <p:spPr>
          <a:xfrm>
            <a:off x="6858000" y="2286000"/>
            <a:ext cx="2286000" cy="640080"/>
          </a:xfrm>
          <a:prstGeom prst="rect">
            <a:avLst/>
          </a:prstGeom>
          <a:noFill/>
          <a:ln/>
        </p:spPr>
        <p:txBody>
          <a:bodyPr wrap="square" lIns="0" tIns="0" rIns="0" bIns="0" rtlCol="0" anchor="t"/>
          <a:lstStyle/>
          <a:p>
            <a:pPr indent="0" marL="0">
              <a:buNone/>
            </a:pPr>
            <a:r>
              <a:rPr lang="en-US" sz="1400" dirty="0">
                <a:solidFill>
                  <a:schemeClr val="tx2"/>
                </a:solidFill>
              </a:rPr>
              <a:t>position error vs. ground truth</a:t>
            </a:r>
            <a:endParaRPr lang="en-US" sz="1400" dirty="0"/>
          </a:p>
        </p:txBody>
      </p:sp>
      <p:sp>
        <p:nvSpPr>
          <p:cNvPr id="6" name="stat-tolerance"/>
          <p:cNvSpPr txBox="1"/>
          <p:nvPr/>
        </p:nvSpPr>
        <p:spPr>
          <a:xfrm>
            <a:off x="9326880" y="1371600"/>
            <a:ext cx="2286000" cy="868680"/>
          </a:xfrm>
          <a:prstGeom prst="rect">
            <a:avLst/>
          </a:prstGeom>
          <a:noFill/>
          <a:ln/>
        </p:spPr>
        <p:txBody>
          <a:bodyPr wrap="square" lIns="0" tIns="0" rIns="0" bIns="0" rtlCol="0" anchor="b"/>
          <a:lstStyle/>
          <a:p>
            <a:pPr indent="0" marL="0">
              <a:buNone/>
            </a:pPr>
            <a:r>
              <a:rPr lang="en-US" sz="4800" b="1" dirty="0">
                <a:solidFill>
                  <a:schemeClr val="accent5"/>
                </a:solidFill>
              </a:rPr>
              <a:t>10 mm</a:t>
            </a:r>
            <a:endParaRPr lang="en-US" sz="4800" dirty="0"/>
          </a:p>
        </p:txBody>
      </p:sp>
      <p:sp>
        <p:nvSpPr>
          <p:cNvPr id="7" name="Text 4"/>
          <p:cNvSpPr txBox="1"/>
          <p:nvPr/>
        </p:nvSpPr>
        <p:spPr>
          <a:xfrm>
            <a:off x="9326880" y="2286000"/>
            <a:ext cx="2286000" cy="640080"/>
          </a:xfrm>
          <a:prstGeom prst="rect">
            <a:avLst/>
          </a:prstGeom>
          <a:noFill/>
          <a:ln/>
        </p:spPr>
        <p:txBody>
          <a:bodyPr wrap="square" lIns="0" tIns="0" rIns="0" bIns="0" rtlCol="0" anchor="t"/>
          <a:lstStyle/>
          <a:p>
            <a:pPr indent="0" marL="0">
              <a:buNone/>
            </a:pPr>
            <a:r>
              <a:rPr lang="en-US" sz="1400" dirty="0">
                <a:solidFill>
                  <a:schemeClr val="tx2"/>
                </a:solidFill>
              </a:rPr>
              <a:t>about what the magnet tolerates</a:t>
            </a:r>
            <a:endParaRPr lang="en-US" sz="1400" dirty="0"/>
          </a:p>
        </p:txBody>
      </p:sp>
      <p:sp>
        <p:nvSpPr>
          <p:cNvPr id="8" name="Text 5"/>
          <p:cNvSpPr txBox="1"/>
          <p:nvPr/>
        </p:nvSpPr>
        <p:spPr>
          <a:xfrm>
            <a:off x="6858000" y="3200400"/>
            <a:ext cx="47548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Where: an ore's top face is the only surface 66-86 mm above the belt in the depth image</a:t>
            </a:r>
            <a:endParaRPr lang="en-US" sz="1500" dirty="0"/>
          </a:p>
          <a:p>
            <a:pPr marL="342900" indent="-342900">
              <a:spcAft>
                <a:spcPts val="800"/>
              </a:spcAft>
              <a:buSzPct val="100000"/>
              <a:buChar char="•"/>
            </a:pPr>
            <a:r>
              <a:rPr lang="en-US" sz="1500" dirty="0">
                <a:solidFill>
                  <a:schemeClr val="tx1"/>
                </a:solidFill>
              </a:rPr>
              <a:t>Centre of a rectangle fitted to that face, checked against the 101.6 mm size</a:t>
            </a:r>
            <a:endParaRPr lang="en-US" sz="1500" dirty="0"/>
          </a:p>
          <a:p>
            <a:pPr marL="342900" indent="-342900">
              <a:spcAft>
                <a:spcPts val="800"/>
              </a:spcAft>
              <a:buSzPct val="100000"/>
              <a:buChar char="•"/>
            </a:pPr>
            <a:r>
              <a:rPr lang="en-US" sz="1500" dirty="0">
                <a:solidFill>
                  <a:schemeClr val="tx1"/>
                </a:solidFill>
              </a:rPr>
              <a:t>What: the share of the face in each mineral's colour; the winner needs 2x the next</a:t>
            </a:r>
            <a:endParaRPr lang="en-US" sz="1500" dirty="0"/>
          </a:p>
          <a:p>
            <a:pPr marL="342900" indent="-342900">
              <a:spcAft>
                <a:spcPts val="800"/>
              </a:spcAft>
              <a:buSzPct val="100000"/>
              <a:buChar char="•"/>
            </a:pPr>
            <a:r>
              <a:rPr lang="en-US" sz="1500" dirty="0">
                <a:solidFill>
                  <a:schemeClr val="tx1"/>
                </a:solidFill>
              </a:rPr>
              <a:t>Majority vote over 20 frames; no clear winner = "uncertain", never a guess</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Real ores are rarely one colour, so we vote</a:t>
            </a:r>
            <a:endParaRPr lang="en-US" sz="3200" dirty="0"/>
          </a:p>
        </p:txBody>
      </p:sp>
      <p:pic>
        <p:nvPicPr>
          <p:cNvPr id="3" name="impurity-chart" descr="Accuracy against impurity: the voting detector stays at 100% up to 50% impurity while tight thresholds fall to 48% at 20%">    </p:cNvPr>
          <p:cNvPicPr>
            <a:picLocks noChangeAspect="1"/>
          </p:cNvPicPr>
          <p:nvPr/>
        </p:nvPicPr>
        <p:blipFill>
          <a:blip r:embed="rId1"/>
          <a:stretch>
            <a:fillRect/>
          </a:stretch>
        </p:blipFill>
        <p:spPr>
          <a:xfrm>
            <a:off x="457200" y="1325880"/>
            <a:ext cx="6583680" cy="3758184"/>
          </a:xfrm>
          <a:prstGeom prst="rect">
            <a:avLst/>
          </a:prstGeom>
        </p:spPr>
      </p:pic>
      <p:sp>
        <p:nvSpPr>
          <p:cNvPr id="4" name="Text 1"/>
          <p:cNvSpPr txBox="1"/>
          <p:nvPr/>
        </p:nvSpPr>
        <p:spPr>
          <a:xfrm>
            <a:off x="457200" y="5212080"/>
            <a:ext cx="6583680" cy="640080"/>
          </a:xfrm>
          <a:prstGeom prst="rect">
            <a:avLst/>
          </a:prstGeom>
          <a:noFill/>
          <a:ln/>
        </p:spPr>
        <p:txBody>
          <a:bodyPr wrap="square" lIns="0" tIns="0" rIns="0" bIns="0" rtlCol="0" anchor="t"/>
          <a:lstStyle/>
          <a:p>
            <a:pPr indent="0" marL="0">
              <a:buNone/>
            </a:pPr>
            <a:r>
              <a:rPr lang="en-US" sz="1300" dirty="0">
                <a:solidFill>
                  <a:schemeClr val="tx2"/>
                </a:solidFill>
              </a:rPr>
              <a:t>Impurities painted into a real camera frame: dark rock, brown matrix, quartz and veins of other minerals, under varied lighting. 160 ores per level.</a:t>
            </a:r>
            <a:endParaRPr lang="en-US" sz="1300" dirty="0"/>
          </a:p>
        </p:txBody>
      </p:sp>
      <p:sp>
        <p:nvSpPr>
          <p:cNvPr id="5" name="Text 2"/>
          <p:cNvSpPr txBox="1"/>
          <p:nvPr/>
        </p:nvSpPr>
        <p:spPr>
          <a:xfrm>
            <a:off x="7406640" y="1371600"/>
            <a:ext cx="4206240" cy="365760"/>
          </a:xfrm>
          <a:prstGeom prst="rect">
            <a:avLst/>
          </a:prstGeom>
          <a:noFill/>
          <a:ln/>
        </p:spPr>
        <p:txBody>
          <a:bodyPr wrap="square" lIns="0" tIns="0" rIns="0" bIns="0" rtlCol="0" anchor="t"/>
          <a:lstStyle/>
          <a:p>
            <a:pPr indent="0" marL="0">
              <a:buNone/>
            </a:pPr>
            <a:r>
              <a:rPr lang="en-US" sz="1600" b="1" dirty="0">
                <a:solidFill>
                  <a:schemeClr val="tx1"/>
                </a:solidFill>
              </a:rPr>
              <a:t>180 real mineral photos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06640" y="1828800"/>
          <a:ext cx="4206240" cy="914400"/>
        </p:xfrm>
        <a:graphic>
          <a:graphicData uri="http://schemas.openxmlformats.org/drawingml/2006/table">
            <a:tbl>
              <a:tblPr/>
              <a:tblGrid>
                <a:gridCol w="2011680"/>
                <a:gridCol w="1097280"/>
                <a:gridCol w="109728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Held-out photos</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Tight</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Vote</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r>
              <a:tr h="45720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Azurite</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C4501F"/>
                          </a:solidFill>
                          <a:latin typeface="Calibri" pitchFamily="34" charset="0"/>
                          <a:ea typeface="Calibri" pitchFamily="34" charset="-122"/>
                          <a:cs typeface="Calibri" pitchFamily="34" charset="-120"/>
                        </a:rPr>
                        <a:t>37%</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45720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Malachite</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C4501F"/>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45720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Vanadinite</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C4501F"/>
                          </a:solidFill>
                          <a:latin typeface="Calibri" pitchFamily="34" charset="0"/>
                          <a:ea typeface="Calibri" pitchFamily="34" charset="-122"/>
                          <a:cs typeface="Calibri" pitchFamily="34" charset="-120"/>
                        </a:rPr>
                        <a:t>93%</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457200">
                <a:tc>
                  <a:txBody>
                    <a:bodyPr/>
                    <a:lstStyle/>
                    <a:p>
                      <a:pPr indent="0" marL="0">
                        <a:buNone/>
                      </a:pPr>
                      <a:r>
                        <a:rPr lang="en-US" sz="1500" b="1" dirty="0">
                          <a:solidFill>
                            <a:srgbClr val="1E2226"/>
                          </a:solidFill>
                          <a:latin typeface="Calibri" pitchFamily="34" charset="0"/>
                          <a:ea typeface="Calibri" pitchFamily="34" charset="-122"/>
                          <a:cs typeface="Calibri" pitchFamily="34" charset="-120"/>
                        </a:rPr>
                        <a:t>All</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b="1" dirty="0">
                          <a:solidFill>
                            <a:srgbClr val="1E2226"/>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b="1" dirty="0">
                          <a:solidFill>
                            <a:srgbClr val="C4501F"/>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bl>
          </a:graphicData>
        </a:graphic>
      </p:graphicFrame>
      <p:sp>
        <p:nvSpPr>
          <p:cNvPr id="7" name="Text 3"/>
          <p:cNvSpPr txBox="1"/>
          <p:nvPr/>
        </p:nvSpPr>
        <p:spPr>
          <a:xfrm>
            <a:off x="7406640" y="4343400"/>
            <a:ext cx="4206240" cy="1097280"/>
          </a:xfrm>
          <a:prstGeom prst="rect">
            <a:avLst/>
          </a:prstGeom>
          <a:noFill/>
          <a:ln/>
        </p:spPr>
        <p:txBody>
          <a:bodyPr wrap="square" lIns="0" tIns="0" rIns="0" bIns="0" rtlCol="0" anchor="t"/>
          <a:lstStyle/>
          <a:p>
            <a:pPr indent="0" marL="0">
              <a:buNone/>
            </a:pPr>
            <a:r>
              <a:rPr lang="en-US" sz="1300" dirty="0">
                <a:solidFill>
                  <a:schemeClr val="tx2"/>
                </a:solidFill>
              </a:rPr>
              <a:t>Museum photos from Wikimedia Commons. Limits calibrated on 90, tested on 90 others. Azurite is hardest: very dark, and often crusted with green malachite.</a:t>
            </a: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The containers were found by measuring the rover mesh</a:t>
            </a:r>
            <a:endParaRPr lang="en-US" sz="3200" dirty="0"/>
          </a:p>
        </p:txBody>
      </p:sp>
      <p:pic>
        <p:nvPicPr>
          <p:cNvPr id="3" name="workspace-top-view" descr="Top view of the arm workspace with conveyor, crusher, cargo rover containers and drop points">    </p:cNvPr>
          <p:cNvPicPr>
            <a:picLocks noChangeAspect="1"/>
          </p:cNvPicPr>
          <p:nvPr/>
        </p:nvPicPr>
        <p:blipFill>
          <a:blip r:embed="rId1"/>
          <a:stretch>
            <a:fillRect/>
          </a:stretch>
        </p:blipFill>
        <p:spPr>
          <a:xfrm>
            <a:off x="548640" y="1280160"/>
            <a:ext cx="5029200" cy="4690872"/>
          </a:xfrm>
          <a:prstGeom prst="rect">
            <a:avLst/>
          </a:prstGeom>
        </p:spPr>
      </p:pic>
      <p:sp>
        <p:nvSpPr>
          <p:cNvPr id="4" name="fact-1"/>
          <p:cNvSpPr/>
          <p:nvPr/>
        </p:nvSpPr>
        <p:spPr>
          <a:xfrm>
            <a:off x="6126480" y="1417320"/>
            <a:ext cx="5486400" cy="1325880"/>
          </a:xfrm>
          <a:prstGeom prst="roundRect">
            <a:avLst>
              <a:gd name="adj" fmla="val 5517"/>
            </a:avLst>
          </a:prstGeom>
          <a:solidFill>
            <a:schemeClr val="bg2"/>
          </a:solidFill>
          <a:ln w="12700">
            <a:solidFill>
              <a:schemeClr val="bg2"/>
            </a:solidFill>
            <a:prstDash val="solid"/>
          </a:ln>
        </p:spPr>
      </p:sp>
      <p:sp>
        <p:nvSpPr>
          <p:cNvPr id="5" name="Text 2"/>
          <p:cNvSpPr txBox="1"/>
          <p:nvPr/>
        </p:nvSpPr>
        <p:spPr>
          <a:xfrm>
            <a:off x="6355080" y="1554480"/>
            <a:ext cx="5029200" cy="365760"/>
          </a:xfrm>
          <a:prstGeom prst="rect">
            <a:avLst/>
          </a:prstGeom>
          <a:noFill/>
          <a:ln/>
        </p:spPr>
        <p:txBody>
          <a:bodyPr wrap="square" lIns="0" tIns="0" rIns="0" bIns="0" rtlCol="0" anchor="t"/>
          <a:lstStyle/>
          <a:p>
            <a:pPr indent="0" marL="0">
              <a:buNone/>
            </a:pPr>
            <a:r>
              <a:rPr lang="en-US" sz="1800" b="1" dirty="0">
                <a:solidFill>
                  <a:schemeClr val="tx1"/>
                </a:solidFill>
              </a:rPr>
              <a:t>Not given to us</a:t>
            </a:r>
            <a:endParaRPr lang="en-US" sz="1800" dirty="0"/>
          </a:p>
        </p:txBody>
      </p:sp>
      <p:sp>
        <p:nvSpPr>
          <p:cNvPr id="6" name="Text 3"/>
          <p:cNvSpPr txBox="1"/>
          <p:nvPr/>
        </p:nvSpPr>
        <p:spPr>
          <a:xfrm>
            <a:off x="6355080" y="1947672"/>
            <a:ext cx="5029200" cy="731520"/>
          </a:xfrm>
          <a:prstGeom prst="rect">
            <a:avLst/>
          </a:prstGeom>
          <a:noFill/>
          <a:ln/>
        </p:spPr>
        <p:txBody>
          <a:bodyPr wrap="square" lIns="0" tIns="0" rIns="0" bIns="0" rtlCol="0" anchor="t"/>
          <a:lstStyle/>
          <a:p>
            <a:pPr indent="0" marL="0">
              <a:buNone/>
            </a:pPr>
            <a:r>
              <a:rPr lang="en-US" sz="1400" dirty="0">
                <a:solidFill>
                  <a:schemeClr val="tx2"/>
                </a:solidFill>
              </a:rPr>
              <a:t>The cargo rover's collision mesh (GLB) was parsed and moved into base_link: three containers, 0.26-0.31 m by 0.40 m.</a:t>
            </a:r>
            <a:endParaRPr lang="en-US" sz="1400" dirty="0"/>
          </a:p>
        </p:txBody>
      </p:sp>
      <p:sp>
        <p:nvSpPr>
          <p:cNvPr id="7" name="fact-2"/>
          <p:cNvSpPr/>
          <p:nvPr/>
        </p:nvSpPr>
        <p:spPr>
          <a:xfrm>
            <a:off x="6126480" y="2926080"/>
            <a:ext cx="5486400" cy="1325880"/>
          </a:xfrm>
          <a:prstGeom prst="roundRect">
            <a:avLst>
              <a:gd name="adj" fmla="val 5517"/>
            </a:avLst>
          </a:prstGeom>
          <a:solidFill>
            <a:schemeClr val="bg2"/>
          </a:solidFill>
          <a:ln w="12700">
            <a:solidFill>
              <a:schemeClr val="bg2"/>
            </a:solidFill>
            <a:prstDash val="solid"/>
          </a:ln>
        </p:spPr>
      </p:sp>
      <p:sp>
        <p:nvSpPr>
          <p:cNvPr id="8" name="Text 5"/>
          <p:cNvSpPr txBox="1"/>
          <p:nvPr/>
        </p:nvSpPr>
        <p:spPr>
          <a:xfrm>
            <a:off x="6355080" y="3063240"/>
            <a:ext cx="5029200" cy="365760"/>
          </a:xfrm>
          <a:prstGeom prst="rect">
            <a:avLst/>
          </a:prstGeom>
          <a:noFill/>
          <a:ln/>
        </p:spPr>
        <p:txBody>
          <a:bodyPr wrap="square" lIns="0" tIns="0" rIns="0" bIns="0" rtlCol="0" anchor="t"/>
          <a:lstStyle/>
          <a:p>
            <a:pPr indent="0" marL="0">
              <a:buNone/>
            </a:pPr>
            <a:r>
              <a:rPr lang="en-US" sz="1800" b="1" dirty="0">
                <a:solidFill>
                  <a:schemeClr val="tx1"/>
                </a:solidFill>
              </a:rPr>
              <a:t>Which is which</a:t>
            </a:r>
            <a:endParaRPr lang="en-US" sz="1800" dirty="0"/>
          </a:p>
        </p:txBody>
      </p:sp>
      <p:sp>
        <p:nvSpPr>
          <p:cNvPr id="9" name="Text 6"/>
          <p:cNvSpPr txBox="1"/>
          <p:nvPr/>
        </p:nvSpPr>
        <p:spPr>
          <a:xfrm>
            <a:off x="6355080" y="3456432"/>
            <a:ext cx="5029200" cy="731520"/>
          </a:xfrm>
          <a:prstGeom prst="rect">
            <a:avLst/>
          </a:prstGeom>
          <a:noFill/>
          <a:ln/>
        </p:spPr>
        <p:txBody>
          <a:bodyPr wrap="square" lIns="0" tIns="0" rIns="0" bIns="0" rtlCol="0" anchor="t"/>
          <a:lstStyle/>
          <a:p>
            <a:pPr indent="0" marL="0">
              <a:buNone/>
            </a:pPr>
            <a:r>
              <a:rPr lang="en-US" sz="1400" dirty="0">
                <a:solidFill>
                  <a:schemeClr val="tx2"/>
                </a:solidFill>
              </a:rPr>
              <a:t>Gazebo's default camera looks along +x: vanadinite nearest, malachite middle, azurite farthest.</a:t>
            </a:r>
            <a:endParaRPr lang="en-US" sz="1400" dirty="0"/>
          </a:p>
        </p:txBody>
      </p:sp>
      <p:sp>
        <p:nvSpPr>
          <p:cNvPr id="10" name="fact-3"/>
          <p:cNvSpPr/>
          <p:nvPr/>
        </p:nvSpPr>
        <p:spPr>
          <a:xfrm>
            <a:off x="6126480" y="4434840"/>
            <a:ext cx="5486400" cy="1325880"/>
          </a:xfrm>
          <a:prstGeom prst="roundRect">
            <a:avLst>
              <a:gd name="adj" fmla="val 5517"/>
            </a:avLst>
          </a:prstGeom>
          <a:solidFill>
            <a:schemeClr val="bg2"/>
          </a:solidFill>
          <a:ln w="12700">
            <a:solidFill>
              <a:schemeClr val="bg2"/>
            </a:solidFill>
            <a:prstDash val="solid"/>
          </a:ln>
        </p:spPr>
      </p:sp>
      <p:sp>
        <p:nvSpPr>
          <p:cNvPr id="11" name="Text 8"/>
          <p:cNvSpPr txBox="1"/>
          <p:nvPr/>
        </p:nvSpPr>
        <p:spPr>
          <a:xfrm>
            <a:off x="6355080" y="457200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One is out of reach</a:t>
            </a:r>
            <a:endParaRPr lang="en-US" sz="1800" dirty="0"/>
          </a:p>
        </p:txBody>
      </p:sp>
      <p:sp>
        <p:nvSpPr>
          <p:cNvPr id="12" name="Text 9"/>
          <p:cNvSpPr txBox="1"/>
          <p:nvPr/>
        </p:nvSpPr>
        <p:spPr>
          <a:xfrm>
            <a:off x="6355080" y="4965192"/>
            <a:ext cx="5029200" cy="731520"/>
          </a:xfrm>
          <a:prstGeom prst="rect">
            <a:avLst/>
          </a:prstGeom>
          <a:noFill/>
          <a:ln/>
        </p:spPr>
        <p:txBody>
          <a:bodyPr wrap="square" lIns="0" tIns="0" rIns="0" bIns="0" rtlCol="0" anchor="t"/>
          <a:lstStyle/>
          <a:p>
            <a:pPr indent="0" marL="0">
              <a:buNone/>
            </a:pPr>
            <a:r>
              <a:rPr lang="en-US" sz="1400" dirty="0">
                <a:solidFill>
                  <a:schemeClr val="tx2"/>
                </a:solidFill>
              </a:rPr>
              <a:t>The vanadinite centre is 0.93 m from the base. Each ore is released at the nearest point inside its container, 8 cm from the walls.</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Every pick is confirmed by the force sensor</a:t>
            </a:r>
            <a:endParaRPr lang="en-US" sz="3200" dirty="0"/>
          </a:p>
        </p:txBody>
      </p:sp>
      <p:sp>
        <p:nvSpPr>
          <p:cNvPr id="3" name="pick-step-1"/>
          <p:cNvSpPr/>
          <p:nvPr/>
        </p:nvSpPr>
        <p:spPr>
          <a:xfrm>
            <a:off x="548640" y="1737360"/>
            <a:ext cx="2011680" cy="2103120"/>
          </a:xfrm>
          <a:prstGeom prst="roundRect">
            <a:avLst>
              <a:gd name="adj" fmla="val 3636"/>
            </a:avLst>
          </a:prstGeom>
          <a:solidFill>
            <a:srgbClr val="F1ECE8"/>
          </a:solidFill>
          <a:ln w="19050">
            <a:solidFill>
              <a:srgbClr val="F1ECE8"/>
            </a:solidFill>
            <a:prstDash val="solid"/>
          </a:ln>
        </p:spPr>
      </p:sp>
      <p:sp>
        <p:nvSpPr>
          <p:cNvPr id="4" name="pick-dot-1"/>
          <p:cNvSpPr/>
          <p:nvPr/>
        </p:nvSpPr>
        <p:spPr>
          <a:xfrm>
            <a:off x="731520" y="19202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514600"/>
            <a:ext cx="1645920" cy="411480"/>
          </a:xfrm>
          <a:prstGeom prst="rect">
            <a:avLst/>
          </a:prstGeom>
          <a:noFill/>
          <a:ln/>
        </p:spPr>
        <p:txBody>
          <a:bodyPr wrap="square" lIns="0" tIns="0" rIns="0" bIns="0" rtlCol="0" anchor="t"/>
          <a:lstStyle/>
          <a:p>
            <a:pPr indent="0" marL="0">
              <a:buNone/>
            </a:pPr>
            <a:r>
              <a:rPr lang="en-US" sz="1800" b="1" dirty="0">
                <a:solidFill>
                  <a:schemeClr val="tx1"/>
                </a:solidFill>
              </a:rPr>
              <a:t>Hover</a:t>
            </a:r>
            <a:endParaRPr lang="en-US" sz="1800" dirty="0"/>
          </a:p>
        </p:txBody>
      </p:sp>
      <p:sp>
        <p:nvSpPr>
          <p:cNvPr id="7" name="Text 5"/>
          <p:cNvSpPr txBox="1"/>
          <p:nvPr/>
        </p:nvSpPr>
        <p:spPr>
          <a:xfrm>
            <a:off x="731520" y="2971800"/>
            <a:ext cx="1645920" cy="822960"/>
          </a:xfrm>
          <a:prstGeom prst="rect">
            <a:avLst/>
          </a:prstGeom>
          <a:noFill/>
          <a:ln/>
        </p:spPr>
        <p:txBody>
          <a:bodyPr wrap="square" lIns="0" tIns="0" rIns="0" bIns="0" rtlCol="0" anchor="t"/>
          <a:lstStyle/>
          <a:p>
            <a:pPr indent="0" marL="0">
              <a:buNone/>
            </a:pPr>
            <a:r>
              <a:rPr lang="en-US" sz="1400" dirty="0">
                <a:solidFill>
                  <a:schemeClr val="tx2"/>
                </a:solidFill>
              </a:rPr>
              <a:t>10 cm above the face, tool vertical</a:t>
            </a:r>
            <a:endParaRPr lang="en-US" sz="1400" dirty="0"/>
          </a:p>
        </p:txBody>
      </p:sp>
      <p:sp>
        <p:nvSpPr>
          <p:cNvPr id="8" name="pick-arrow-1"/>
          <p:cNvSpPr/>
          <p:nvPr/>
        </p:nvSpPr>
        <p:spPr>
          <a:xfrm>
            <a:off x="2578608" y="2788920"/>
            <a:ext cx="214884" cy="0"/>
          </a:xfrm>
          <a:prstGeom prst="line">
            <a:avLst/>
          </a:prstGeom>
          <a:noFill/>
          <a:ln w="19050">
            <a:solidFill>
              <a:srgbClr val="6B7280"/>
            </a:solidFill>
            <a:prstDash val="solid"/>
            <a:tailEnd type="triangle"/>
          </a:ln>
        </p:spPr>
      </p:sp>
      <p:sp>
        <p:nvSpPr>
          <p:cNvPr id="9" name="pick-step-2"/>
          <p:cNvSpPr/>
          <p:nvPr/>
        </p:nvSpPr>
        <p:spPr>
          <a:xfrm>
            <a:off x="2811780" y="1737360"/>
            <a:ext cx="2011680" cy="2103120"/>
          </a:xfrm>
          <a:prstGeom prst="roundRect">
            <a:avLst>
              <a:gd name="adj" fmla="val 3636"/>
            </a:avLst>
          </a:prstGeom>
          <a:solidFill>
            <a:srgbClr val="F1ECE8"/>
          </a:solidFill>
          <a:ln w="19050">
            <a:solidFill>
              <a:srgbClr val="F1ECE8"/>
            </a:solidFill>
            <a:prstDash val="solid"/>
          </a:ln>
        </p:spPr>
      </p:sp>
      <p:sp>
        <p:nvSpPr>
          <p:cNvPr id="10" name="pick-dot-2"/>
          <p:cNvSpPr/>
          <p:nvPr/>
        </p:nvSpPr>
        <p:spPr>
          <a:xfrm>
            <a:off x="2994660" y="192024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299466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2994660" y="2514600"/>
            <a:ext cx="1645920" cy="411480"/>
          </a:xfrm>
          <a:prstGeom prst="rect">
            <a:avLst/>
          </a:prstGeom>
          <a:noFill/>
          <a:ln/>
        </p:spPr>
        <p:txBody>
          <a:bodyPr wrap="square" lIns="0" tIns="0" rIns="0" bIns="0" rtlCol="0" anchor="t"/>
          <a:lstStyle/>
          <a:p>
            <a:pPr indent="0" marL="0">
              <a:buNone/>
            </a:pPr>
            <a:r>
              <a:rPr lang="en-US" sz="1800" b="1" dirty="0">
                <a:solidFill>
                  <a:schemeClr val="tx1"/>
                </a:solidFill>
              </a:rPr>
              <a:t>Align</a:t>
            </a:r>
            <a:endParaRPr lang="en-US" sz="1800" dirty="0"/>
          </a:p>
        </p:txBody>
      </p:sp>
      <p:sp>
        <p:nvSpPr>
          <p:cNvPr id="13" name="Text 11"/>
          <p:cNvSpPr txBox="1"/>
          <p:nvPr/>
        </p:nvSpPr>
        <p:spPr>
          <a:xfrm>
            <a:off x="2994660" y="2971800"/>
            <a:ext cx="1645920" cy="822960"/>
          </a:xfrm>
          <a:prstGeom prst="rect">
            <a:avLst/>
          </a:prstGeom>
          <a:noFill/>
          <a:ln/>
        </p:spPr>
        <p:txBody>
          <a:bodyPr wrap="square" lIns="0" tIns="0" rIns="0" bIns="0" rtlCol="0" anchor="t"/>
          <a:lstStyle/>
          <a:p>
            <a:pPr indent="0" marL="0">
              <a:buNone/>
            </a:pPr>
            <a:r>
              <a:rPr lang="en-US" sz="1400" dirty="0">
                <a:solidFill>
                  <a:schemeClr val="tx2"/>
                </a:solidFill>
              </a:rPr>
              <a:t>close the last mm on /tcp_pose_raw; magnet on</a:t>
            </a:r>
            <a:endParaRPr lang="en-US" sz="1400" dirty="0"/>
          </a:p>
        </p:txBody>
      </p:sp>
      <p:sp>
        <p:nvSpPr>
          <p:cNvPr id="14" name="pick-arrow-2"/>
          <p:cNvSpPr/>
          <p:nvPr/>
        </p:nvSpPr>
        <p:spPr>
          <a:xfrm>
            <a:off x="4841748" y="2788920"/>
            <a:ext cx="214884" cy="0"/>
          </a:xfrm>
          <a:prstGeom prst="line">
            <a:avLst/>
          </a:prstGeom>
          <a:noFill/>
          <a:ln w="19050">
            <a:solidFill>
              <a:srgbClr val="6B7280"/>
            </a:solidFill>
            <a:prstDash val="solid"/>
            <a:tailEnd type="triangle"/>
          </a:ln>
        </p:spPr>
      </p:sp>
      <p:sp>
        <p:nvSpPr>
          <p:cNvPr id="15" name="pick-step-3"/>
          <p:cNvSpPr/>
          <p:nvPr/>
        </p:nvSpPr>
        <p:spPr>
          <a:xfrm>
            <a:off x="5074920" y="1737360"/>
            <a:ext cx="2011680" cy="2103120"/>
          </a:xfrm>
          <a:prstGeom prst="roundRect">
            <a:avLst>
              <a:gd name="adj" fmla="val 3636"/>
            </a:avLst>
          </a:prstGeom>
          <a:solidFill>
            <a:srgbClr val="F1ECE8"/>
          </a:solidFill>
          <a:ln w="19050">
            <a:solidFill>
              <a:srgbClr val="F1ECE8"/>
            </a:solidFill>
            <a:prstDash val="solid"/>
          </a:ln>
        </p:spPr>
      </p:sp>
      <p:sp>
        <p:nvSpPr>
          <p:cNvPr id="16" name="pick-dot-3"/>
          <p:cNvSpPr/>
          <p:nvPr/>
        </p:nvSpPr>
        <p:spPr>
          <a:xfrm>
            <a:off x="5257800" y="192024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525780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5257800" y="2514600"/>
            <a:ext cx="1645920" cy="411480"/>
          </a:xfrm>
          <a:prstGeom prst="rect">
            <a:avLst/>
          </a:prstGeom>
          <a:noFill/>
          <a:ln/>
        </p:spPr>
        <p:txBody>
          <a:bodyPr wrap="square" lIns="0" tIns="0" rIns="0" bIns="0" rtlCol="0" anchor="t"/>
          <a:lstStyle/>
          <a:p>
            <a:pPr indent="0" marL="0">
              <a:buNone/>
            </a:pPr>
            <a:r>
              <a:rPr lang="en-US" sz="1800" b="1" dirty="0">
                <a:solidFill>
                  <a:schemeClr val="tx1"/>
                </a:solidFill>
              </a:rPr>
              <a:t>Descend</a:t>
            </a:r>
            <a:endParaRPr lang="en-US" sz="1800" dirty="0"/>
          </a:p>
        </p:txBody>
      </p:sp>
      <p:sp>
        <p:nvSpPr>
          <p:cNvPr id="19" name="Text 17"/>
          <p:cNvSpPr txBox="1"/>
          <p:nvPr/>
        </p:nvSpPr>
        <p:spPr>
          <a:xfrm>
            <a:off x="5257800" y="2971800"/>
            <a:ext cx="1645920" cy="822960"/>
          </a:xfrm>
          <a:prstGeom prst="rect">
            <a:avLst/>
          </a:prstGeom>
          <a:noFill/>
          <a:ln/>
        </p:spPr>
        <p:txBody>
          <a:bodyPr wrap="square" lIns="0" tIns="0" rIns="0" bIns="0" rtlCol="0" anchor="t"/>
          <a:lstStyle/>
          <a:p>
            <a:pPr indent="0" marL="0">
              <a:buNone/>
            </a:pPr>
            <a:r>
              <a:rPr lang="en-US" sz="1400" dirty="0">
                <a:solidFill>
                  <a:schemeClr val="tx2"/>
                </a:solidFill>
              </a:rPr>
              <a:t>4 then 1.2 cm/s; stop at the face or 2.5 N</a:t>
            </a:r>
            <a:endParaRPr lang="en-US" sz="1400" dirty="0"/>
          </a:p>
        </p:txBody>
      </p:sp>
      <p:sp>
        <p:nvSpPr>
          <p:cNvPr id="20" name="pick-arrow-3"/>
          <p:cNvSpPr/>
          <p:nvPr/>
        </p:nvSpPr>
        <p:spPr>
          <a:xfrm>
            <a:off x="7104888" y="2788920"/>
            <a:ext cx="214884" cy="0"/>
          </a:xfrm>
          <a:prstGeom prst="line">
            <a:avLst/>
          </a:prstGeom>
          <a:noFill/>
          <a:ln w="19050">
            <a:solidFill>
              <a:srgbClr val="6B7280"/>
            </a:solidFill>
            <a:prstDash val="solid"/>
            <a:tailEnd type="triangle"/>
          </a:ln>
        </p:spPr>
      </p:sp>
      <p:sp>
        <p:nvSpPr>
          <p:cNvPr id="21" name="pick-step-4"/>
          <p:cNvSpPr/>
          <p:nvPr/>
        </p:nvSpPr>
        <p:spPr>
          <a:xfrm>
            <a:off x="7338060" y="1737360"/>
            <a:ext cx="2011680" cy="2103120"/>
          </a:xfrm>
          <a:prstGeom prst="roundRect">
            <a:avLst>
              <a:gd name="adj" fmla="val 3636"/>
            </a:avLst>
          </a:prstGeom>
          <a:solidFill>
            <a:srgbClr val="FBEDE6"/>
          </a:solidFill>
          <a:ln w="19050">
            <a:solidFill>
              <a:srgbClr val="C4501F"/>
            </a:solidFill>
            <a:prstDash val="solid"/>
          </a:ln>
        </p:spPr>
      </p:sp>
      <p:sp>
        <p:nvSpPr>
          <p:cNvPr id="22" name="pick-dot-4"/>
          <p:cNvSpPr/>
          <p:nvPr/>
        </p:nvSpPr>
        <p:spPr>
          <a:xfrm>
            <a:off x="7520940" y="1920240"/>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52094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520940" y="2514600"/>
            <a:ext cx="1645920" cy="411480"/>
          </a:xfrm>
          <a:prstGeom prst="rect">
            <a:avLst/>
          </a:prstGeom>
          <a:noFill/>
          <a:ln/>
        </p:spPr>
        <p:txBody>
          <a:bodyPr wrap="square" lIns="0" tIns="0" rIns="0" bIns="0" rtlCol="0" anchor="t"/>
          <a:lstStyle/>
          <a:p>
            <a:pPr indent="0" marL="0">
              <a:buNone/>
            </a:pPr>
            <a:r>
              <a:rPr lang="en-US" sz="1800" b="1" dirty="0">
                <a:solidFill>
                  <a:schemeClr val="tx1"/>
                </a:solidFill>
              </a:rPr>
              <a:t>Lift + check</a:t>
            </a:r>
            <a:endParaRPr lang="en-US" sz="1800" dirty="0"/>
          </a:p>
        </p:txBody>
      </p:sp>
      <p:sp>
        <p:nvSpPr>
          <p:cNvPr id="25" name="Text 23"/>
          <p:cNvSpPr txBox="1"/>
          <p:nvPr/>
        </p:nvSpPr>
        <p:spPr>
          <a:xfrm>
            <a:off x="7520940" y="2971800"/>
            <a:ext cx="1645920" cy="822960"/>
          </a:xfrm>
          <a:prstGeom prst="rect">
            <a:avLst/>
          </a:prstGeom>
          <a:noFill/>
          <a:ln/>
        </p:spPr>
        <p:txBody>
          <a:bodyPr wrap="square" lIns="0" tIns="0" rIns="0" bIns="0" rtlCol="0" anchor="t"/>
          <a:lstStyle/>
          <a:p>
            <a:pPr indent="0" marL="0">
              <a:buNone/>
            </a:pPr>
            <a:r>
              <a:rPr lang="en-US" sz="1400" dirty="0">
                <a:solidFill>
                  <a:schemeClr val="tx2"/>
                </a:solidFill>
              </a:rPr>
              <a:t>1.47 N = ore held; under 0.8 N, retry</a:t>
            </a:r>
            <a:endParaRPr lang="en-US" sz="1400" dirty="0"/>
          </a:p>
        </p:txBody>
      </p:sp>
      <p:sp>
        <p:nvSpPr>
          <p:cNvPr id="26" name="pick-arrow-4"/>
          <p:cNvSpPr/>
          <p:nvPr/>
        </p:nvSpPr>
        <p:spPr>
          <a:xfrm>
            <a:off x="9368028" y="2788920"/>
            <a:ext cx="214884" cy="0"/>
          </a:xfrm>
          <a:prstGeom prst="line">
            <a:avLst/>
          </a:prstGeom>
          <a:noFill/>
          <a:ln w="19050">
            <a:solidFill>
              <a:srgbClr val="6B7280"/>
            </a:solidFill>
            <a:prstDash val="solid"/>
            <a:tailEnd type="triangle"/>
          </a:ln>
        </p:spPr>
      </p:sp>
      <p:sp>
        <p:nvSpPr>
          <p:cNvPr id="27" name="pick-step-5"/>
          <p:cNvSpPr/>
          <p:nvPr/>
        </p:nvSpPr>
        <p:spPr>
          <a:xfrm>
            <a:off x="9601200" y="1737360"/>
            <a:ext cx="2011680" cy="2103120"/>
          </a:xfrm>
          <a:prstGeom prst="roundRect">
            <a:avLst>
              <a:gd name="adj" fmla="val 3636"/>
            </a:avLst>
          </a:prstGeom>
          <a:solidFill>
            <a:srgbClr val="F1ECE8"/>
          </a:solidFill>
          <a:ln w="19050">
            <a:solidFill>
              <a:srgbClr val="F1ECE8"/>
            </a:solidFill>
            <a:prstDash val="solid"/>
          </a:ln>
        </p:spPr>
      </p:sp>
      <p:sp>
        <p:nvSpPr>
          <p:cNvPr id="28" name="pick-dot-5"/>
          <p:cNvSpPr/>
          <p:nvPr/>
        </p:nvSpPr>
        <p:spPr>
          <a:xfrm>
            <a:off x="9784080" y="1920240"/>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978408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9784080" y="2514600"/>
            <a:ext cx="1645920" cy="411480"/>
          </a:xfrm>
          <a:prstGeom prst="rect">
            <a:avLst/>
          </a:prstGeom>
          <a:noFill/>
          <a:ln/>
        </p:spPr>
        <p:txBody>
          <a:bodyPr wrap="square" lIns="0" tIns="0" rIns="0" bIns="0" rtlCol="0" anchor="t"/>
          <a:lstStyle/>
          <a:p>
            <a:pPr indent="0" marL="0">
              <a:buNone/>
            </a:pPr>
            <a:r>
              <a:rPr lang="en-US" sz="1800" b="1" dirty="0">
                <a:solidFill>
                  <a:schemeClr val="tx1"/>
                </a:solidFill>
              </a:rPr>
              <a:t>Drop</a:t>
            </a:r>
            <a:endParaRPr lang="en-US" sz="1800" dirty="0"/>
          </a:p>
        </p:txBody>
      </p:sp>
      <p:sp>
        <p:nvSpPr>
          <p:cNvPr id="31" name="Text 29"/>
          <p:cNvSpPr txBox="1"/>
          <p:nvPr/>
        </p:nvSpPr>
        <p:spPr>
          <a:xfrm>
            <a:off x="9784080" y="2971800"/>
            <a:ext cx="1645920" cy="822960"/>
          </a:xfrm>
          <a:prstGeom prst="rect">
            <a:avLst/>
          </a:prstGeom>
          <a:noFill/>
          <a:ln/>
        </p:spPr>
        <p:txBody>
          <a:bodyPr wrap="square" lIns="0" tIns="0" rIns="0" bIns="0" rtlCol="0" anchor="t"/>
          <a:lstStyle/>
          <a:p>
            <a:pPr indent="0" marL="0">
              <a:buNone/>
            </a:pPr>
            <a:r>
              <a:rPr lang="en-US" sz="1400" dirty="0">
                <a:solidFill>
                  <a:schemeClr val="tx2"/>
                </a:solidFill>
              </a:rPr>
              <a:t>carry with the ore in the collision model; release</a:t>
            </a:r>
            <a:endParaRPr lang="en-US" sz="1400" dirty="0"/>
          </a:p>
        </p:txBody>
      </p:sp>
      <p:sp>
        <p:nvSpPr>
          <p:cNvPr id="32" name="stat-magnet"/>
          <p:cNvSpPr txBox="1"/>
          <p:nvPr/>
        </p:nvSpPr>
        <p:spPr>
          <a:xfrm>
            <a:off x="548640" y="4343400"/>
            <a:ext cx="3291840" cy="868680"/>
          </a:xfrm>
          <a:prstGeom prst="rect">
            <a:avLst/>
          </a:prstGeom>
          <a:noFill/>
          <a:ln/>
        </p:spPr>
        <p:txBody>
          <a:bodyPr wrap="square" lIns="0" tIns="0" rIns="0" bIns="0" rtlCol="0" anchor="b"/>
          <a:lstStyle/>
          <a:p>
            <a:pPr indent="0" marL="0">
              <a:buNone/>
            </a:pPr>
            <a:r>
              <a:rPr lang="en-US" sz="4800" b="1" dirty="0">
                <a:solidFill>
                  <a:schemeClr val="accent1"/>
                </a:solidFill>
              </a:rPr>
              <a:t>81 mm</a:t>
            </a:r>
            <a:endParaRPr lang="en-US" sz="4800" dirty="0"/>
          </a:p>
        </p:txBody>
      </p:sp>
      <p:sp>
        <p:nvSpPr>
          <p:cNvPr id="33" name="Text 31"/>
          <p:cNvSpPr txBox="1"/>
          <p:nvPr/>
        </p:nvSpPr>
        <p:spPr>
          <a:xfrm>
            <a:off x="548640" y="5257800"/>
            <a:ext cx="3291840" cy="640080"/>
          </a:xfrm>
          <a:prstGeom prst="rect">
            <a:avLst/>
          </a:prstGeom>
          <a:noFill/>
          <a:ln/>
        </p:spPr>
        <p:txBody>
          <a:bodyPr wrap="square" lIns="0" tIns="0" rIns="0" bIns="0" rtlCol="0" anchor="t"/>
          <a:lstStyle/>
          <a:p>
            <a:pPr indent="0" marL="0">
              <a:buNone/>
            </a:pPr>
            <a:r>
              <a:rPr lang="en-US" sz="1400" dirty="0">
                <a:solidFill>
                  <a:schemeClr val="tx2"/>
                </a:solidFill>
              </a:rPr>
              <a:t>magnet disc on a 101.6 mm face: about 10 mm to spare</a:t>
            </a:r>
            <a:endParaRPr lang="en-US" sz="1400" dirty="0"/>
          </a:p>
        </p:txBody>
      </p:sp>
      <p:sp>
        <p:nvSpPr>
          <p:cNvPr id="34" name="stat-force"/>
          <p:cNvSpPr txBox="1"/>
          <p:nvPr/>
        </p:nvSpPr>
        <p:spPr>
          <a:xfrm>
            <a:off x="4297680" y="4343400"/>
            <a:ext cx="3291840" cy="868680"/>
          </a:xfrm>
          <a:prstGeom prst="rect">
            <a:avLst/>
          </a:prstGeom>
          <a:noFill/>
          <a:ln/>
        </p:spPr>
        <p:txBody>
          <a:bodyPr wrap="square" lIns="0" tIns="0" rIns="0" bIns="0" rtlCol="0" anchor="b"/>
          <a:lstStyle/>
          <a:p>
            <a:pPr indent="0" marL="0">
              <a:buNone/>
            </a:pPr>
            <a:r>
              <a:rPr lang="en-US" sz="4800" b="1" dirty="0">
                <a:solidFill>
                  <a:schemeClr val="accent1"/>
                </a:solidFill>
              </a:rPr>
              <a:t>1.47 N</a:t>
            </a:r>
            <a:endParaRPr lang="en-US" sz="4800" dirty="0"/>
          </a:p>
        </p:txBody>
      </p:sp>
      <p:sp>
        <p:nvSpPr>
          <p:cNvPr id="35" name="Text 33"/>
          <p:cNvSpPr txBox="1"/>
          <p:nvPr/>
        </p:nvSpPr>
        <p:spPr>
          <a:xfrm>
            <a:off x="4297680" y="5257800"/>
            <a:ext cx="3291840" cy="640080"/>
          </a:xfrm>
          <a:prstGeom prst="rect">
            <a:avLst/>
          </a:prstGeom>
          <a:noFill/>
          <a:ln/>
        </p:spPr>
        <p:txBody>
          <a:bodyPr wrap="square" lIns="0" tIns="0" rIns="0" bIns="0" rtlCol="0" anchor="t"/>
          <a:lstStyle/>
          <a:p>
            <a:pPr indent="0" marL="0">
              <a:buNone/>
            </a:pPr>
            <a:r>
              <a:rPr lang="en-US" sz="1400" dirty="0">
                <a:solidFill>
                  <a:schemeClr val="tx2"/>
                </a:solidFill>
              </a:rPr>
              <a:t>force reading for a held 0.15 kg ore</a:t>
            </a:r>
            <a:endParaRPr lang="en-US" sz="1400" dirty="0"/>
          </a:p>
        </p:txBody>
      </p:sp>
      <p:sp>
        <p:nvSpPr>
          <p:cNvPr id="36" name="stat-stops"/>
          <p:cNvSpPr txBox="1"/>
          <p:nvPr/>
        </p:nvSpPr>
        <p:spPr>
          <a:xfrm>
            <a:off x="8046720" y="4343400"/>
            <a:ext cx="3566160" cy="868680"/>
          </a:xfrm>
          <a:prstGeom prst="rect">
            <a:avLst/>
          </a:prstGeom>
          <a:noFill/>
          <a:ln/>
        </p:spPr>
        <p:txBody>
          <a:bodyPr wrap="square" lIns="0" tIns="0" rIns="0" bIns="0" rtlCol="0" anchor="b"/>
          <a:lstStyle/>
          <a:p>
            <a:pPr indent="0" marL="0">
              <a:buNone/>
            </a:pPr>
            <a:r>
              <a:rPr lang="en-US" sz="4800" b="1" dirty="0">
                <a:solidFill>
                  <a:schemeClr val="accent3"/>
                </a:solidFill>
              </a:rPr>
              <a:t>0 stops</a:t>
            </a:r>
            <a:endParaRPr lang="en-US" sz="4800" dirty="0"/>
          </a:p>
        </p:txBody>
      </p:sp>
      <p:sp>
        <p:nvSpPr>
          <p:cNvPr id="37" name="Text 35"/>
          <p:cNvSpPr txBox="1"/>
          <p:nvPr/>
        </p:nvSpPr>
        <p:spPr>
          <a:xfrm>
            <a:off x="8046720" y="5257800"/>
            <a:ext cx="3566160" cy="640080"/>
          </a:xfrm>
          <a:prstGeom prst="rect">
            <a:avLst/>
          </a:prstGeom>
          <a:noFill/>
          <a:ln/>
        </p:spPr>
        <p:txBody>
          <a:bodyPr wrap="square" lIns="0" tIns="0" rIns="0" bIns="0" rtlCol="0" anchor="t"/>
          <a:lstStyle/>
          <a:p>
            <a:pPr indent="0" marL="0">
              <a:buNone/>
            </a:pPr>
            <a:r>
              <a:rPr lang="en-US" sz="1400" dirty="0">
                <a:solidFill>
                  <a:schemeClr val="tx2"/>
                </a:solidFill>
              </a:rPr>
              <a:t>safety stops across every trial</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A purpose-built IK solver plans 300x faster</a:t>
            </a:r>
            <a:endParaRPr lang="en-US" sz="3200" dirty="0"/>
          </a:p>
        </p:txBody>
      </p:sp>
      <p:sp>
        <p:nvSpPr>
          <p:cNvPr id="3" name="before-card"/>
          <p:cNvSpPr/>
          <p:nvPr/>
        </p:nvSpPr>
        <p:spPr>
          <a:xfrm>
            <a:off x="548640" y="1463040"/>
            <a:ext cx="32918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645920"/>
            <a:ext cx="2926080" cy="365760"/>
          </a:xfrm>
          <a:prstGeom prst="rect">
            <a:avLst/>
          </a:prstGeom>
          <a:noFill/>
          <a:ln/>
        </p:spPr>
        <p:txBody>
          <a:bodyPr wrap="square" lIns="0" tIns="0" rIns="0" bIns="0" rtlCol="0" anchor="t"/>
          <a:lstStyle/>
          <a:p>
            <a:pPr indent="0" marL="0">
              <a:buNone/>
            </a:pPr>
            <a:r>
              <a:rPr lang="en-US" sz="1600" b="1" dirty="0">
                <a:solidFill>
                  <a:schemeClr val="tx2"/>
                </a:solidFill>
              </a:rPr>
              <a:t>Before: SLSQP optimiser</a:t>
            </a:r>
            <a:endParaRPr lang="en-US" sz="1600" dirty="0"/>
          </a:p>
        </p:txBody>
      </p:sp>
      <p:sp>
        <p:nvSpPr>
          <p:cNvPr id="5" name="Text 3"/>
          <p:cNvSpPr txBox="1"/>
          <p:nvPr/>
        </p:nvSpPr>
        <p:spPr>
          <a:xfrm>
            <a:off x="777240" y="2103120"/>
            <a:ext cx="2926080" cy="914400"/>
          </a:xfrm>
          <a:prstGeom prst="rect">
            <a:avLst/>
          </a:prstGeom>
          <a:noFill/>
          <a:ln/>
        </p:spPr>
        <p:txBody>
          <a:bodyPr wrap="square" lIns="0" tIns="0" rIns="0" bIns="0" rtlCol="0" anchor="t"/>
          <a:lstStyle/>
          <a:p>
            <a:pPr indent="0" marL="0">
              <a:buNone/>
            </a:pPr>
            <a:r>
              <a:rPr lang="en-US" sz="4800" b="1" dirty="0">
                <a:solidFill>
                  <a:schemeClr val="accent5"/>
                </a:solidFill>
              </a:rPr>
              <a:t>minutes</a:t>
            </a:r>
            <a:endParaRPr lang="en-US" sz="4800" dirty="0"/>
          </a:p>
        </p:txBody>
      </p:sp>
      <p:sp>
        <p:nvSpPr>
          <p:cNvPr id="6" name="Text 4"/>
          <p:cNvSpPr txBox="1"/>
          <p:nvPr/>
        </p:nvSpPr>
        <p:spPr>
          <a:xfrm>
            <a:off x="777240" y="3063240"/>
            <a:ext cx="2926080" cy="640080"/>
          </a:xfrm>
          <a:prstGeom prst="rect">
            <a:avLst/>
          </a:prstGeom>
          <a:noFill/>
          <a:ln/>
        </p:spPr>
        <p:txBody>
          <a:bodyPr wrap="square" lIns="0" tIns="0" rIns="0" bIns="0" rtlCol="0" anchor="t"/>
          <a:lstStyle/>
          <a:p>
            <a:pPr indent="0" marL="0">
              <a:buNone/>
            </a:pPr>
            <a:r>
              <a:rPr lang="en-US" sz="1400" dirty="0">
                <a:solidFill>
                  <a:schemeClr val="tx2"/>
                </a:solidFill>
              </a:rPr>
              <a:t>per plan; stuck when starting above the containers</a:t>
            </a:r>
            <a:endParaRPr lang="en-US" sz="1400" dirty="0"/>
          </a:p>
        </p:txBody>
      </p:sp>
      <p:sp>
        <p:nvSpPr>
          <p:cNvPr id="7" name="after-card"/>
          <p:cNvSpPr/>
          <p:nvPr/>
        </p:nvSpPr>
        <p:spPr>
          <a:xfrm>
            <a:off x="4206240" y="1463040"/>
            <a:ext cx="3291840" cy="2377440"/>
          </a:xfrm>
          <a:prstGeom prst="roundRect">
            <a:avLst>
              <a:gd name="adj" fmla="val 3077"/>
            </a:avLst>
          </a:prstGeom>
          <a:solidFill>
            <a:srgbClr val="FBEDE6"/>
          </a:solidFill>
          <a:ln w="22225">
            <a:solidFill>
              <a:srgbClr val="C4501F"/>
            </a:solidFill>
            <a:prstDash val="solid"/>
          </a:ln>
        </p:spPr>
      </p:sp>
      <p:sp>
        <p:nvSpPr>
          <p:cNvPr id="8" name="Text 6"/>
          <p:cNvSpPr txBox="1"/>
          <p:nvPr/>
        </p:nvSpPr>
        <p:spPr>
          <a:xfrm>
            <a:off x="4434840" y="1645920"/>
            <a:ext cx="2926080" cy="365760"/>
          </a:xfrm>
          <a:prstGeom prst="rect">
            <a:avLst/>
          </a:prstGeom>
          <a:noFill/>
          <a:ln/>
        </p:spPr>
        <p:txBody>
          <a:bodyPr wrap="square" lIns="0" tIns="0" rIns="0" bIns="0" rtlCol="0" anchor="t"/>
          <a:lstStyle/>
          <a:p>
            <a:pPr indent="0" marL="0">
              <a:buNone/>
            </a:pPr>
            <a:r>
              <a:rPr lang="en-US" sz="1600" b="1" dirty="0">
                <a:solidFill>
                  <a:schemeClr val="accent1"/>
                </a:solidFill>
              </a:rPr>
              <a:t>After: damped least squares</a:t>
            </a:r>
            <a:endParaRPr lang="en-US" sz="1600" dirty="0"/>
          </a:p>
        </p:txBody>
      </p:sp>
      <p:sp>
        <p:nvSpPr>
          <p:cNvPr id="9" name="Text 7"/>
          <p:cNvSpPr txBox="1"/>
          <p:nvPr/>
        </p:nvSpPr>
        <p:spPr>
          <a:xfrm>
            <a:off x="4434840" y="2103120"/>
            <a:ext cx="2926080" cy="914400"/>
          </a:xfrm>
          <a:prstGeom prst="rect">
            <a:avLst/>
          </a:prstGeom>
          <a:noFill/>
          <a:ln/>
        </p:spPr>
        <p:txBody>
          <a:bodyPr wrap="square" lIns="0" tIns="0" rIns="0" bIns="0" rtlCol="0" anchor="t"/>
          <a:lstStyle/>
          <a:p>
            <a:pPr indent="0" marL="0">
              <a:buNone/>
            </a:pPr>
            <a:r>
              <a:rPr lang="en-US" sz="4800" b="1" dirty="0">
                <a:solidFill>
                  <a:schemeClr val="accent1"/>
                </a:solidFill>
              </a:rPr>
              <a:t>0.1-0.4 s</a:t>
            </a:r>
            <a:endParaRPr lang="en-US" sz="4800" dirty="0"/>
          </a:p>
        </p:txBody>
      </p:sp>
      <p:sp>
        <p:nvSpPr>
          <p:cNvPr id="10" name="Text 8"/>
          <p:cNvSpPr txBox="1"/>
          <p:nvPr/>
        </p:nvSpPr>
        <p:spPr>
          <a:xfrm>
            <a:off x="4434840" y="3063240"/>
            <a:ext cx="2926080" cy="640080"/>
          </a:xfrm>
          <a:prstGeom prst="rect">
            <a:avLst/>
          </a:prstGeom>
          <a:noFill/>
          <a:ln/>
        </p:spPr>
        <p:txBody>
          <a:bodyPr wrap="square" lIns="0" tIns="0" rIns="0" bIns="0" rtlCol="0" anchor="t"/>
          <a:lstStyle/>
          <a:p>
            <a:pPr indent="0" marL="0">
              <a:buNone/>
            </a:pPr>
            <a:r>
              <a:rPr lang="en-US" sz="1400" dirty="0">
                <a:solidFill>
                  <a:schemeClr val="tx2"/>
                </a:solidFill>
              </a:rPr>
              <a:t>per plan, with every safety check kept</a:t>
            </a:r>
            <a:endParaRPr lang="en-US" sz="1400" dirty="0"/>
          </a:p>
        </p:txBody>
      </p:sp>
      <p:sp>
        <p:nvSpPr>
          <p:cNvPr id="11" name="Text 9"/>
          <p:cNvSpPr txBox="1"/>
          <p:nvPr/>
        </p:nvSpPr>
        <p:spPr>
          <a:xfrm>
            <a:off x="7955280" y="1463040"/>
            <a:ext cx="3657600" cy="365760"/>
          </a:xfrm>
          <a:prstGeom prst="rect">
            <a:avLst/>
          </a:prstGeom>
          <a:noFill/>
          <a:ln/>
        </p:spPr>
        <p:txBody>
          <a:bodyPr wrap="square" lIns="0" tIns="0" rIns="0" bIns="0" rtlCol="0" anchor="t"/>
          <a:lstStyle/>
          <a:p>
            <a:pPr indent="0" marL="0">
              <a:buNone/>
            </a:pPr>
            <a:r>
              <a:rPr lang="en-US" sz="1700" b="1" dirty="0">
                <a:solidFill>
                  <a:schemeClr val="tx1"/>
                </a:solidFill>
              </a:rPr>
              <a:t>5 constraints, not 6</a:t>
            </a:r>
            <a:endParaRPr lang="en-US" sz="1700" dirty="0"/>
          </a:p>
        </p:txBody>
      </p:sp>
      <p:sp>
        <p:nvSpPr>
          <p:cNvPr id="12" name="Text 10"/>
          <p:cNvSpPr txBox="1"/>
          <p:nvPr/>
        </p:nvSpPr>
        <p:spPr>
          <a:xfrm>
            <a:off x="7955280" y="1828800"/>
            <a:ext cx="3657600" cy="685800"/>
          </a:xfrm>
          <a:prstGeom prst="rect">
            <a:avLst/>
          </a:prstGeom>
          <a:noFill/>
          <a:ln/>
        </p:spPr>
        <p:txBody>
          <a:bodyPr wrap="square" lIns="0" tIns="0" rIns="0" bIns="0" rtlCol="0" anchor="t"/>
          <a:lstStyle/>
          <a:p>
            <a:pPr indent="0" marL="0">
              <a:buNone/>
            </a:pPr>
            <a:r>
              <a:rPr lang="en-US" sz="1350" dirty="0">
                <a:solidFill>
                  <a:schemeClr val="tx2"/>
                </a:solidFill>
              </a:rPr>
              <a:t>Tool position + vertical axis; rotation about vertical is free because the magnet is round</a:t>
            </a:r>
            <a:endParaRPr lang="en-US" sz="1350" dirty="0"/>
          </a:p>
        </p:txBody>
      </p:sp>
      <p:sp>
        <p:nvSpPr>
          <p:cNvPr id="13" name="Text 11"/>
          <p:cNvSpPr txBox="1"/>
          <p:nvPr/>
        </p:nvSpPr>
        <p:spPr>
          <a:xfrm>
            <a:off x="7955280" y="2578608"/>
            <a:ext cx="3657600" cy="365760"/>
          </a:xfrm>
          <a:prstGeom prst="rect">
            <a:avLst/>
          </a:prstGeom>
          <a:noFill/>
          <a:ln/>
        </p:spPr>
        <p:txBody>
          <a:bodyPr wrap="square" lIns="0" tIns="0" rIns="0" bIns="0" rtlCol="0" anchor="t"/>
          <a:lstStyle/>
          <a:p>
            <a:pPr indent="0" marL="0">
              <a:buNone/>
            </a:pPr>
            <a:r>
              <a:rPr lang="en-US" sz="1700" b="1" dirty="0">
                <a:solidFill>
                  <a:schemeClr val="tx1"/>
                </a:solidFill>
              </a:rPr>
              <a:t>Checks once, not every step</a:t>
            </a:r>
            <a:endParaRPr lang="en-US" sz="1700" dirty="0"/>
          </a:p>
        </p:txBody>
      </p:sp>
      <p:sp>
        <p:nvSpPr>
          <p:cNvPr id="14" name="Text 12"/>
          <p:cNvSpPr txBox="1"/>
          <p:nvPr/>
        </p:nvSpPr>
        <p:spPr>
          <a:xfrm>
            <a:off x="7955280" y="2944368"/>
            <a:ext cx="3657600" cy="685800"/>
          </a:xfrm>
          <a:prstGeom prst="rect">
            <a:avLst/>
          </a:prstGeom>
          <a:noFill/>
          <a:ln/>
        </p:spPr>
        <p:txBody>
          <a:bodyPr wrap="square" lIns="0" tIns="0" rIns="0" bIns="0" rtlCol="0" anchor="t"/>
          <a:lstStyle/>
          <a:p>
            <a:pPr indent="0" marL="0">
              <a:buNone/>
            </a:pPr>
            <a:r>
              <a:rPr lang="en-US" sz="1350" dirty="0">
                <a:solidFill>
                  <a:schemeClr val="tx2"/>
                </a:solidFill>
              </a:rPr>
              <a:t>Limits, 3 cm clearance, singularity and tilt are tested on the converged result</a:t>
            </a:r>
            <a:endParaRPr lang="en-US" sz="1350" dirty="0"/>
          </a:p>
        </p:txBody>
      </p:sp>
      <p:sp>
        <p:nvSpPr>
          <p:cNvPr id="15" name="Text 13"/>
          <p:cNvSpPr txBox="1"/>
          <p:nvPr/>
        </p:nvSpPr>
        <p:spPr>
          <a:xfrm>
            <a:off x="7955280" y="3694176"/>
            <a:ext cx="3657600" cy="365760"/>
          </a:xfrm>
          <a:prstGeom prst="rect">
            <a:avLst/>
          </a:prstGeom>
          <a:noFill/>
          <a:ln/>
        </p:spPr>
        <p:txBody>
          <a:bodyPr wrap="square" lIns="0" tIns="0" rIns="0" bIns="0" rtlCol="0" anchor="t"/>
          <a:lstStyle/>
          <a:p>
            <a:pPr indent="0" marL="0">
              <a:buNone/>
            </a:pPr>
            <a:r>
              <a:rPr lang="en-US" sz="1700" b="1" dirty="0">
                <a:solidFill>
                  <a:schemeClr val="tx1"/>
                </a:solidFill>
              </a:rPr>
              <a:t>A memory of solutions</a:t>
            </a:r>
            <a:endParaRPr lang="en-US" sz="1700" dirty="0"/>
          </a:p>
        </p:txBody>
      </p:sp>
      <p:sp>
        <p:nvSpPr>
          <p:cNvPr id="16" name="Text 14"/>
          <p:cNvSpPr txBox="1"/>
          <p:nvPr/>
        </p:nvSpPr>
        <p:spPr>
          <a:xfrm>
            <a:off x="7955280" y="4059936"/>
            <a:ext cx="3657600" cy="685800"/>
          </a:xfrm>
          <a:prstGeom prst="rect">
            <a:avLst/>
          </a:prstGeom>
          <a:noFill/>
          <a:ln/>
        </p:spPr>
        <p:txBody>
          <a:bodyPr wrap="square" lIns="0" tIns="0" rIns="0" bIns="0" rtlCol="0" anchor="t"/>
          <a:lstStyle/>
          <a:p>
            <a:pPr indent="0" marL="0">
              <a:buNone/>
            </a:pPr>
            <a:r>
              <a:rPr lang="en-US" sz="1350" dirty="0">
                <a:solidFill>
                  <a:schemeClr val="tx2"/>
                </a:solidFill>
              </a:rPr>
              <a:t>Every solved pose is reused as a seed, so the arm always finds its way back</a:t>
            </a:r>
            <a:endParaRPr lang="en-US" sz="1350" dirty="0"/>
          </a:p>
        </p:txBody>
      </p:sp>
      <p:sp>
        <p:nvSpPr>
          <p:cNvPr id="17" name="Text 15"/>
          <p:cNvSpPr txBox="1"/>
          <p:nvPr/>
        </p:nvSpPr>
        <p:spPr>
          <a:xfrm>
            <a:off x="7955280" y="4809744"/>
            <a:ext cx="3657600" cy="365760"/>
          </a:xfrm>
          <a:prstGeom prst="rect">
            <a:avLst/>
          </a:prstGeom>
          <a:noFill/>
          <a:ln/>
        </p:spPr>
        <p:txBody>
          <a:bodyPr wrap="square" lIns="0" tIns="0" rIns="0" bIns="0" rtlCol="0" anchor="t"/>
          <a:lstStyle/>
          <a:p>
            <a:pPr indent="0" marL="0">
              <a:buNone/>
            </a:pPr>
            <a:r>
              <a:rPr lang="en-US" sz="1700" b="1" dirty="0">
                <a:solidFill>
                  <a:schemeClr val="tx1"/>
                </a:solidFill>
              </a:rPr>
              <a:t>Straight vertical moves</a:t>
            </a:r>
            <a:endParaRPr lang="en-US" sz="1700" dirty="0"/>
          </a:p>
        </p:txBody>
      </p:sp>
      <p:sp>
        <p:nvSpPr>
          <p:cNvPr id="18" name="Text 16"/>
          <p:cNvSpPr txBox="1"/>
          <p:nvPr/>
        </p:nvSpPr>
        <p:spPr>
          <a:xfrm>
            <a:off x="7955280" y="5175504"/>
            <a:ext cx="3657600" cy="685800"/>
          </a:xfrm>
          <a:prstGeom prst="rect">
            <a:avLst/>
          </a:prstGeom>
          <a:noFill/>
          <a:ln/>
        </p:spPr>
        <p:txBody>
          <a:bodyPr wrap="square" lIns="0" tIns="0" rIns="0" bIns="0" rtlCol="0" anchor="t"/>
          <a:lstStyle/>
          <a:p>
            <a:pPr indent="0" marL="0">
              <a:buNone/>
            </a:pPr>
            <a:r>
              <a:rPr lang="en-US" sz="1350" dirty="0">
                <a:solidFill>
                  <a:schemeClr val="tx2"/>
                </a:solidFill>
              </a:rPr>
              <a:t>Resolved-rate control: tool velocity mapped to joints through the Jacobian</a:t>
            </a:r>
            <a:endParaRPr lang="en-US" sz="1350" dirty="0"/>
          </a:p>
        </p:txBody>
      </p:sp>
      <p:sp>
        <p:nvSpPr>
          <p:cNvPr id="19" name="dls-equation"/>
          <p:cNvSpPr txBox="1"/>
          <p:nvPr/>
        </p:nvSpPr>
        <p:spPr>
          <a:xfrm>
            <a:off x="548640" y="4343400"/>
            <a:ext cx="6949440" cy="548640"/>
          </a:xfrm>
          <a:prstGeom prst="rect">
            <a:avLst/>
          </a:prstGeom>
          <a:noFill/>
          <a:ln/>
        </p:spPr>
        <p:txBody>
          <a:bodyPr wrap="square" lIns="0" tIns="0" rIns="0" bIns="0" rtlCol="0" anchor="t"/>
          <a:lstStyle/>
          <a:p>
            <a:pPr indent="0" marL="0">
              <a:buNone/>
            </a:pPr>
            <a:r>
              <a:rPr lang="en-US" sz="2200" dirty="0">
                <a:solidFill>
                  <a:schemeClr val="tx1"/>
                </a:solidFill>
              </a:rPr>
              <a:t>Δq = J</a:t>
            </a:r>
            <a:pPr indent="0" marL="0">
              <a:buNone/>
            </a:pPr>
            <a:r>
              <a:rPr lang="en-US" sz="2200" baseline="30000" dirty="0">
                <a:solidFill>
                  <a:schemeClr val="tx1"/>
                </a:solidFill>
              </a:rPr>
              <a:t>T</a:t>
            </a:r>
            <a:pPr indent="0" marL="0">
              <a:buNone/>
            </a:pPr>
            <a:r>
              <a:rPr lang="en-US" sz="2200" dirty="0">
                <a:solidFill>
                  <a:schemeClr val="tx1"/>
                </a:solidFill>
              </a:rPr>
              <a:t> (J J</a:t>
            </a:r>
            <a:pPr indent="0" marL="0">
              <a:buNone/>
            </a:pPr>
            <a:r>
              <a:rPr lang="en-US" sz="2200" baseline="30000" dirty="0">
                <a:solidFill>
                  <a:schemeClr val="tx1"/>
                </a:solidFill>
              </a:rPr>
              <a:t>T</a:t>
            </a:r>
            <a:pPr indent="0" marL="0">
              <a:buNone/>
            </a:pPr>
            <a:r>
              <a:rPr lang="en-US" sz="2200" dirty="0">
                <a:solidFill>
                  <a:schemeClr val="tx1"/>
                </a:solidFill>
              </a:rPr>
              <a:t> + λ</a:t>
            </a:r>
            <a:pPr indent="0" marL="0">
              <a:buNone/>
            </a:pPr>
            <a:r>
              <a:rPr lang="en-US" sz="2200" baseline="30000" dirty="0">
                <a:solidFill>
                  <a:schemeClr val="tx1"/>
                </a:solidFill>
              </a:rPr>
              <a:t>2</a:t>
            </a:r>
            <a:pPr indent="0" marL="0">
              <a:buNone/>
            </a:pPr>
            <a:r>
              <a:rPr lang="en-US" sz="2200" dirty="0">
                <a:solidFill>
                  <a:schemeClr val="tx1"/>
                </a:solidFill>
              </a:rPr>
              <a:t> I)</a:t>
            </a:r>
            <a:pPr indent="0" marL="0">
              <a:buNone/>
            </a:pPr>
            <a:r>
              <a:rPr lang="en-US" sz="2200" baseline="30000" dirty="0">
                <a:solidFill>
                  <a:schemeClr val="tx1"/>
                </a:solidFill>
              </a:rPr>
              <a:t>−1</a:t>
            </a:r>
            <a:pPr indent="0" marL="0">
              <a:buNone/>
            </a:pPr>
            <a:r>
              <a:rPr lang="en-US" sz="2200" dirty="0">
                <a:solidFill>
                  <a:schemeClr val="tx1"/>
                </a:solidFill>
              </a:rPr>
              <a:t> e,   λ = 0.02</a:t>
            </a:r>
            <a:endParaRPr lang="en-US" sz="2200" dirty="0"/>
          </a:p>
        </p:txBody>
      </p:sp>
      <p:sp>
        <p:nvSpPr>
          <p:cNvPr id="20" name="Text 18"/>
          <p:cNvSpPr txBox="1"/>
          <p:nvPr/>
        </p:nvSpPr>
        <p:spPr>
          <a:xfrm>
            <a:off x="548640" y="4937760"/>
            <a:ext cx="6949440" cy="457200"/>
          </a:xfrm>
          <a:prstGeom prst="rect">
            <a:avLst/>
          </a:prstGeom>
          <a:noFill/>
          <a:ln/>
        </p:spPr>
        <p:txBody>
          <a:bodyPr wrap="square" lIns="0" tIns="0" rIns="0" bIns="0" rtlCol="0" anchor="t"/>
          <a:lstStyle/>
          <a:p>
            <a:pPr indent="0" marL="0">
              <a:buNone/>
            </a:pPr>
            <a:r>
              <a:rPr lang="en-US" sz="1400" dirty="0">
                <a:solidFill>
                  <a:schemeClr val="tx2"/>
                </a:solidFill>
              </a:rPr>
              <a:t>e = position error and tool-axis tilt; J = the matching 5 rows of the arm's Jacobian</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A*, then shortcut, then tighten</a:t>
            </a:r>
            <a:endParaRPr lang="en-US" sz="3200" dirty="0"/>
          </a:p>
        </p:txBody>
      </p:sp>
      <p:pic>
        <p:nvPicPr>
          <p:cNvPr id="3" name="planned-paths" descr="Three planned paths on the arena occupancy grid between home, ore drop and arm poses">    </p:cNvPr>
          <p:cNvPicPr>
            <a:picLocks noChangeAspect="1"/>
          </p:cNvPicPr>
          <p:nvPr/>
        </p:nvPicPr>
        <p:blipFill>
          <a:blip r:embed="rId1"/>
          <a:stretch>
            <a:fillRect/>
          </a:stretch>
        </p:blipFill>
        <p:spPr>
          <a:xfrm>
            <a:off x="457200" y="1234440"/>
            <a:ext cx="6949440" cy="4791456"/>
          </a:xfrm>
          <a:prstGeom prst="rect">
            <a:avLst/>
          </a:prstGeom>
        </p:spPr>
      </p:pic>
      <p:sp>
        <p:nvSpPr>
          <p:cNvPr id="4" name="plan-dot-1"/>
          <p:cNvSpPr/>
          <p:nvPr/>
        </p:nvSpPr>
        <p:spPr>
          <a:xfrm>
            <a:off x="7772400" y="1417320"/>
            <a:ext cx="457200" cy="457200"/>
          </a:xfrm>
          <a:prstGeom prst="ellipse">
            <a:avLst/>
          </a:prstGeom>
          <a:solidFill>
            <a:schemeClr val="accent1"/>
          </a:solidFill>
          <a:ln w="12700">
            <a:solidFill>
              <a:schemeClr val="accent1"/>
            </a:solidFill>
            <a:prstDash val="solid"/>
          </a:ln>
        </p:spPr>
      </p:sp>
      <p:sp>
        <p:nvSpPr>
          <p:cNvPr id="5" name="Text 2"/>
          <p:cNvSpPr txBox="1"/>
          <p:nvPr/>
        </p:nvSpPr>
        <p:spPr>
          <a:xfrm>
            <a:off x="77724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8412480" y="1399032"/>
            <a:ext cx="3200400" cy="365760"/>
          </a:xfrm>
          <a:prstGeom prst="rect">
            <a:avLst/>
          </a:prstGeom>
          <a:noFill/>
          <a:ln/>
        </p:spPr>
        <p:txBody>
          <a:bodyPr wrap="square" lIns="0" tIns="0" rIns="0" bIns="0" rtlCol="0" anchor="t"/>
          <a:lstStyle/>
          <a:p>
            <a:pPr indent="0" marL="0">
              <a:buNone/>
            </a:pPr>
            <a:r>
              <a:rPr lang="en-US" sz="1800" b="1" dirty="0">
                <a:solidFill>
                  <a:schemeClr val="tx1"/>
                </a:solidFill>
              </a:rPr>
              <a:t>Clearance map</a:t>
            </a:r>
            <a:endParaRPr lang="en-US" sz="1800" dirty="0"/>
          </a:p>
        </p:txBody>
      </p:sp>
      <p:sp>
        <p:nvSpPr>
          <p:cNvPr id="7" name="Text 4"/>
          <p:cNvSpPr txBox="1"/>
          <p:nvPr/>
        </p:nvSpPr>
        <p:spPr>
          <a:xfrm>
            <a:off x="8412480" y="1783080"/>
            <a:ext cx="3200400" cy="685800"/>
          </a:xfrm>
          <a:prstGeom prst="rect">
            <a:avLst/>
          </a:prstGeom>
          <a:noFill/>
          <a:ln/>
        </p:spPr>
        <p:txBody>
          <a:bodyPr wrap="square" lIns="0" tIns="0" rIns="0" bIns="0" rtlCol="0" anchor="t"/>
          <a:lstStyle/>
          <a:p>
            <a:pPr indent="0" marL="0">
              <a:buNone/>
            </a:pPr>
            <a:r>
              <a:rPr lang="en-US" sz="1350" dirty="0">
                <a:solidFill>
                  <a:schemeClr val="tx2"/>
                </a:solidFill>
              </a:rPr>
              <a:t>Distance transform of the 5 mm /map: every cell knows its distance to a rock</a:t>
            </a:r>
            <a:endParaRPr lang="en-US" sz="1350" dirty="0"/>
          </a:p>
        </p:txBody>
      </p:sp>
      <p:sp>
        <p:nvSpPr>
          <p:cNvPr id="8" name="plan-dot-2"/>
          <p:cNvSpPr/>
          <p:nvPr/>
        </p:nvSpPr>
        <p:spPr>
          <a:xfrm>
            <a:off x="7772400" y="256032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77240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8412480" y="2542032"/>
            <a:ext cx="3200400" cy="365760"/>
          </a:xfrm>
          <a:prstGeom prst="rect">
            <a:avLst/>
          </a:prstGeom>
          <a:noFill/>
          <a:ln/>
        </p:spPr>
        <p:txBody>
          <a:bodyPr wrap="square" lIns="0" tIns="0" rIns="0" bIns="0" rtlCol="0" anchor="t"/>
          <a:lstStyle/>
          <a:p>
            <a:pPr indent="0" marL="0">
              <a:buNone/>
            </a:pPr>
            <a:r>
              <a:rPr lang="en-US" sz="1800" b="1" dirty="0">
                <a:solidFill>
                  <a:schemeClr val="tx1"/>
                </a:solidFill>
              </a:rPr>
              <a:t>A* search</a:t>
            </a:r>
            <a:endParaRPr lang="en-US" sz="1800" dirty="0"/>
          </a:p>
        </p:txBody>
      </p:sp>
      <p:sp>
        <p:nvSpPr>
          <p:cNvPr id="11" name="Text 8"/>
          <p:cNvSpPr txBox="1"/>
          <p:nvPr/>
        </p:nvSpPr>
        <p:spPr>
          <a:xfrm>
            <a:off x="8412480" y="2926080"/>
            <a:ext cx="3200400" cy="685800"/>
          </a:xfrm>
          <a:prstGeom prst="rect">
            <a:avLst/>
          </a:prstGeom>
          <a:noFill/>
          <a:ln/>
        </p:spPr>
        <p:txBody>
          <a:bodyPr wrap="square" lIns="0" tIns="0" rIns="0" bIns="0" rtlCol="0" anchor="t"/>
          <a:lstStyle/>
          <a:p>
            <a:pPr indent="0" marL="0">
              <a:buNone/>
            </a:pPr>
            <a:r>
              <a:rPr lang="en-US" sz="1350" dirty="0">
                <a:solidFill>
                  <a:schemeClr val="tx2"/>
                </a:solidFill>
              </a:rPr>
              <a:t>8-connected on a 5 cm grid, over cells that keep the chosen clearance</a:t>
            </a:r>
            <a:endParaRPr lang="en-US" sz="1350" dirty="0"/>
          </a:p>
        </p:txBody>
      </p:sp>
      <p:sp>
        <p:nvSpPr>
          <p:cNvPr id="12" name="plan-dot-3"/>
          <p:cNvSpPr/>
          <p:nvPr/>
        </p:nvSpPr>
        <p:spPr>
          <a:xfrm>
            <a:off x="7772400" y="370332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7772400" y="3703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412480" y="3685032"/>
            <a:ext cx="3200400" cy="365760"/>
          </a:xfrm>
          <a:prstGeom prst="rect">
            <a:avLst/>
          </a:prstGeom>
          <a:noFill/>
          <a:ln/>
        </p:spPr>
        <p:txBody>
          <a:bodyPr wrap="square" lIns="0" tIns="0" rIns="0" bIns="0" rtlCol="0" anchor="t"/>
          <a:lstStyle/>
          <a:p>
            <a:pPr indent="0" marL="0">
              <a:buNone/>
            </a:pPr>
            <a:r>
              <a:rPr lang="en-US" sz="1800" b="1" dirty="0">
                <a:solidFill>
                  <a:schemeClr val="tx1"/>
                </a:solidFill>
              </a:rPr>
              <a:t>Shortcut</a:t>
            </a:r>
            <a:endParaRPr lang="en-US" sz="1800" dirty="0"/>
          </a:p>
        </p:txBody>
      </p:sp>
      <p:sp>
        <p:nvSpPr>
          <p:cNvPr id="15" name="Text 12"/>
          <p:cNvSpPr txBox="1"/>
          <p:nvPr/>
        </p:nvSpPr>
        <p:spPr>
          <a:xfrm>
            <a:off x="8412480" y="4069080"/>
            <a:ext cx="3200400" cy="685800"/>
          </a:xfrm>
          <a:prstGeom prst="rect">
            <a:avLst/>
          </a:prstGeom>
          <a:noFill/>
          <a:ln/>
        </p:spPr>
        <p:txBody>
          <a:bodyPr wrap="square" lIns="0" tIns="0" rIns="0" bIns="0" rtlCol="0" anchor="t"/>
          <a:lstStyle/>
          <a:p>
            <a:pPr indent="0" marL="0">
              <a:buNone/>
            </a:pPr>
            <a:r>
              <a:rPr lang="en-US" sz="1350" dirty="0">
                <a:solidFill>
                  <a:schemeClr val="tx2"/>
                </a:solidFill>
              </a:rPr>
              <a:t>Jump to the furthest point visible with full clearance</a:t>
            </a:r>
            <a:endParaRPr lang="en-US" sz="1350" dirty="0"/>
          </a:p>
        </p:txBody>
      </p:sp>
      <p:sp>
        <p:nvSpPr>
          <p:cNvPr id="16" name="plan-dot-4"/>
          <p:cNvSpPr/>
          <p:nvPr/>
        </p:nvSpPr>
        <p:spPr>
          <a:xfrm>
            <a:off x="7772400" y="484632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777240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5"/>
          <p:cNvSpPr txBox="1"/>
          <p:nvPr/>
        </p:nvSpPr>
        <p:spPr>
          <a:xfrm>
            <a:off x="8412480" y="4828032"/>
            <a:ext cx="3200400" cy="365760"/>
          </a:xfrm>
          <a:prstGeom prst="rect">
            <a:avLst/>
          </a:prstGeom>
          <a:noFill/>
          <a:ln/>
        </p:spPr>
        <p:txBody>
          <a:bodyPr wrap="square" lIns="0" tIns="0" rIns="0" bIns="0" rtlCol="0" anchor="t"/>
          <a:lstStyle/>
          <a:p>
            <a:pPr indent="0" marL="0">
              <a:buNone/>
            </a:pPr>
            <a:r>
              <a:rPr lang="en-US" sz="1800" b="1" dirty="0">
                <a:solidFill>
                  <a:schemeClr val="tx1"/>
                </a:solidFill>
              </a:rPr>
              <a:t>Tighten</a:t>
            </a:r>
            <a:endParaRPr lang="en-US" sz="1800" dirty="0"/>
          </a:p>
        </p:txBody>
      </p:sp>
      <p:sp>
        <p:nvSpPr>
          <p:cNvPr id="19" name="Text 16"/>
          <p:cNvSpPr txBox="1"/>
          <p:nvPr/>
        </p:nvSpPr>
        <p:spPr>
          <a:xfrm>
            <a:off x="8412480" y="5212080"/>
            <a:ext cx="3200400" cy="685800"/>
          </a:xfrm>
          <a:prstGeom prst="rect">
            <a:avLst/>
          </a:prstGeom>
          <a:noFill/>
          <a:ln/>
        </p:spPr>
        <p:txBody>
          <a:bodyPr wrap="square" lIns="0" tIns="0" rIns="0" bIns="0" rtlCol="0" anchor="t"/>
          <a:lstStyle/>
          <a:p>
            <a:pPr indent="0" marL="0">
              <a:buNone/>
            </a:pPr>
            <a:r>
              <a:rPr lang="en-US" sz="1350" dirty="0">
                <a:solidFill>
                  <a:schemeClr val="tx2"/>
                </a:solidFill>
              </a:rPr>
              <a:t>Pull each corner toward its neighbours until the legs just clear</a:t>
            </a:r>
            <a:endParaRPr lang="en-US" sz="135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Below 0.40 m clearance, paths stop getting shorter</a:t>
            </a:r>
            <a:endParaRPr lang="en-US" sz="3200" dirty="0"/>
          </a:p>
        </p:txBody>
      </p:sp>
      <p:graphicFrame>
        <p:nvGraphicFramePr>
          <p:cNvPr id="3" name="tradeoff-chart" descr=""/>
          <p:cNvGraphicFramePr/>
          <p:nvPr/>
        </p:nvGraphicFramePr>
        <p:xfrm>
          <a:off x="548640" y="13258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stat-circle"/>
          <p:cNvSpPr txBox="1"/>
          <p:nvPr/>
        </p:nvSpPr>
        <p:spPr>
          <a:xfrm>
            <a:off x="7772400" y="1371600"/>
            <a:ext cx="3840480" cy="868680"/>
          </a:xfrm>
          <a:prstGeom prst="rect">
            <a:avLst/>
          </a:prstGeom>
          <a:noFill/>
          <a:ln/>
        </p:spPr>
        <p:txBody>
          <a:bodyPr wrap="square" lIns="0" tIns="0" rIns="0" bIns="0" rtlCol="0" anchor="b"/>
          <a:lstStyle/>
          <a:p>
            <a:pPr indent="0" marL="0">
              <a:buNone/>
            </a:pPr>
            <a:r>
              <a:rPr lang="en-US" sz="4800" b="1" dirty="0">
                <a:solidFill>
                  <a:schemeClr val="accent5"/>
                </a:solidFill>
              </a:rPr>
              <a:t>0.395 m</a:t>
            </a:r>
            <a:endParaRPr lang="en-US" sz="4800" dirty="0"/>
          </a:p>
        </p:txBody>
      </p:sp>
      <p:sp>
        <p:nvSpPr>
          <p:cNvPr id="5" name="Text 2"/>
          <p:cNvSpPr txBox="1"/>
          <p:nvPr/>
        </p:nvSpPr>
        <p:spPr>
          <a:xfrm>
            <a:off x="7772400" y="2286000"/>
            <a:ext cx="3840480" cy="640080"/>
          </a:xfrm>
          <a:prstGeom prst="rect">
            <a:avLst/>
          </a:prstGeom>
          <a:noFill/>
          <a:ln/>
        </p:spPr>
        <p:txBody>
          <a:bodyPr wrap="square" lIns="0" tIns="0" rIns="0" bIns="0" rtlCol="0" anchor="t"/>
          <a:lstStyle/>
          <a:p>
            <a:pPr indent="0" marL="0">
              <a:buNone/>
            </a:pPr>
            <a:r>
              <a:rPr lang="en-US" sz="1400" dirty="0">
                <a:solidFill>
                  <a:schemeClr val="tx2"/>
                </a:solidFill>
              </a:rPr>
              <a:t>reference: a circle enclosing the 0.62 x 0.49 m chassis</a:t>
            </a:r>
            <a:endParaRPr lang="en-US" sz="1400" dirty="0"/>
          </a:p>
        </p:txBody>
      </p:sp>
      <p:sp>
        <p:nvSpPr>
          <p:cNvPr id="6" name="stat-halfwidth"/>
          <p:cNvSpPr txBox="1"/>
          <p:nvPr/>
        </p:nvSpPr>
        <p:spPr>
          <a:xfrm>
            <a:off x="7772400" y="2880360"/>
            <a:ext cx="3840480" cy="868680"/>
          </a:xfrm>
          <a:prstGeom prst="rect">
            <a:avLst/>
          </a:prstGeom>
          <a:noFill/>
          <a:ln/>
        </p:spPr>
        <p:txBody>
          <a:bodyPr wrap="square" lIns="0" tIns="0" rIns="0" bIns="0" rtlCol="0" anchor="b"/>
          <a:lstStyle/>
          <a:p>
            <a:pPr indent="0" marL="0">
              <a:buNone/>
            </a:pPr>
            <a:r>
              <a:rPr lang="en-US" sz="4800" b="1" dirty="0">
                <a:solidFill>
                  <a:schemeClr val="accent1"/>
                </a:solidFill>
              </a:rPr>
              <a:t>0.245 m</a:t>
            </a:r>
            <a:endParaRPr lang="en-US" sz="4800" dirty="0"/>
          </a:p>
        </p:txBody>
      </p:sp>
      <p:sp>
        <p:nvSpPr>
          <p:cNvPr id="7" name="Text 4"/>
          <p:cNvSpPr txBox="1"/>
          <p:nvPr/>
        </p:nvSpPr>
        <p:spPr>
          <a:xfrm>
            <a:off x="7772400" y="3794760"/>
            <a:ext cx="3840480" cy="640080"/>
          </a:xfrm>
          <a:prstGeom prst="rect">
            <a:avLst/>
          </a:prstGeom>
          <a:noFill/>
          <a:ln/>
        </p:spPr>
        <p:txBody>
          <a:bodyPr wrap="square" lIns="0" tIns="0" rIns="0" bIns="0" rtlCol="0" anchor="t"/>
          <a:lstStyle/>
          <a:p>
            <a:pPr indent="0" marL="0">
              <a:buNone/>
            </a:pPr>
            <a:r>
              <a:rPr lang="en-US" sz="1400" dirty="0">
                <a:solidFill>
                  <a:schemeClr val="tx2"/>
                </a:solidFill>
              </a:rPr>
              <a:t>what really has to clear driving straight: the half-width</a:t>
            </a:r>
            <a:endParaRPr lang="en-US" sz="1400" dirty="0"/>
          </a:p>
        </p:txBody>
      </p:sp>
      <p:sp>
        <p:nvSpPr>
          <p:cNvPr id="8" name="Text 5"/>
          <p:cNvSpPr txBox="1"/>
          <p:nvPr/>
        </p:nvSpPr>
        <p:spPr>
          <a:xfrm>
            <a:off x="7772400" y="4480560"/>
            <a:ext cx="3840480" cy="1371600"/>
          </a:xfrm>
          <a:prstGeom prst="rect">
            <a:avLst/>
          </a:prstGeom>
          <a:noFill/>
          <a:ln/>
        </p:spPr>
        <p:txBody>
          <a:bodyPr wrap="square" lIns="0" tIns="0" rIns="0" bIns="0" rtlCol="0" anchor="t"/>
          <a:lstStyle/>
          <a:p>
            <a:pPr indent="0" marL="0">
              <a:buNone/>
            </a:pPr>
            <a:r>
              <a:rPr lang="en-US" sz="1400" dirty="0">
                <a:solidFill>
                  <a:schemeClr val="tx2"/>
                </a:solidFill>
              </a:rPr>
              <a:t>The planner estimates the reference path at 0.395 m, then takes the safest level from 0.40 to 0.34 m that is no longer. At 0.38 m the eBot keeps 13.5 cm each side; it tracked within 9 cm.</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Every ore sorted, every lap completed, no collisions</a:t>
            </a:r>
            <a:endParaRPr lang="en-US" sz="3200" dirty="0"/>
          </a:p>
        </p:txBody>
      </p:sp>
      <p:sp>
        <p:nvSpPr>
          <p:cNvPr id="3" name="stat-sorted"/>
          <p:cNvSpPr txBox="1"/>
          <p:nvPr/>
        </p:nvSpPr>
        <p:spPr>
          <a:xfrm>
            <a:off x="548640" y="1371600"/>
            <a:ext cx="3200400" cy="868680"/>
          </a:xfrm>
          <a:prstGeom prst="rect">
            <a:avLst/>
          </a:prstGeom>
          <a:noFill/>
          <a:ln/>
        </p:spPr>
        <p:txBody>
          <a:bodyPr wrap="square" lIns="0" tIns="0" rIns="0" bIns="0" rtlCol="0" anchor="b"/>
          <a:lstStyle/>
          <a:p>
            <a:pPr indent="0" marL="0">
              <a:buNone/>
            </a:pPr>
            <a:r>
              <a:rPr lang="en-US" sz="4800" b="1" dirty="0">
                <a:solidFill>
                  <a:schemeClr val="accent3"/>
                </a:solidFill>
              </a:rPr>
              <a:t>8 / 8</a:t>
            </a:r>
            <a:endParaRPr lang="en-US" sz="4800" dirty="0"/>
          </a:p>
        </p:txBody>
      </p:sp>
      <p:sp>
        <p:nvSpPr>
          <p:cNvPr id="4" name="Text 2"/>
          <p:cNvSpPr txBox="1"/>
          <p:nvPr/>
        </p:nvSpPr>
        <p:spPr>
          <a:xfrm>
            <a:off x="548640" y="2286000"/>
            <a:ext cx="3200400" cy="640080"/>
          </a:xfrm>
          <a:prstGeom prst="rect">
            <a:avLst/>
          </a:prstGeom>
          <a:noFill/>
          <a:ln/>
        </p:spPr>
        <p:txBody>
          <a:bodyPr wrap="square" lIns="0" tIns="0" rIns="0" bIns="0" rtlCol="0" anchor="t"/>
          <a:lstStyle/>
          <a:p>
            <a:pPr indent="0" marL="0">
              <a:buNone/>
            </a:pPr>
            <a:r>
              <a:rPr lang="en-US" sz="1400" dirty="0">
                <a:solidFill>
                  <a:schemeClr val="tx2"/>
                </a:solidFill>
              </a:rPr>
              <a:t>ores sorted into the right container, two trials</a:t>
            </a:r>
            <a:endParaRPr lang="en-US" sz="1400" dirty="0"/>
          </a:p>
        </p:txBody>
      </p:sp>
      <p:sp>
        <p:nvSpPr>
          <p:cNvPr id="5" name="stat-efficiency"/>
          <p:cNvSpPr txBox="1"/>
          <p:nvPr/>
        </p:nvSpPr>
        <p:spPr>
          <a:xfrm>
            <a:off x="548640" y="3063240"/>
            <a:ext cx="3200400" cy="868680"/>
          </a:xfrm>
          <a:prstGeom prst="rect">
            <a:avLst/>
          </a:prstGeom>
          <a:noFill/>
          <a:ln/>
        </p:spPr>
        <p:txBody>
          <a:bodyPr wrap="square" lIns="0" tIns="0" rIns="0" bIns="0" rtlCol="0" anchor="b"/>
          <a:lstStyle/>
          <a:p>
            <a:pPr indent="0" marL="0">
              <a:buNone/>
            </a:pPr>
            <a:r>
              <a:rPr lang="en-US" sz="4800" b="1" dirty="0">
                <a:solidFill>
                  <a:schemeClr val="accent3"/>
                </a:solidFill>
              </a:rPr>
              <a:t>1.00</a:t>
            </a:r>
            <a:endParaRPr lang="en-US" sz="4800" dirty="0"/>
          </a:p>
        </p:txBody>
      </p:sp>
      <p:sp>
        <p:nvSpPr>
          <p:cNvPr id="6" name="Text 4"/>
          <p:cNvSpPr txBox="1"/>
          <p:nvPr/>
        </p:nvSpPr>
        <p:spPr>
          <a:xfrm>
            <a:off x="548640" y="3977640"/>
            <a:ext cx="3200400" cy="640080"/>
          </a:xfrm>
          <a:prstGeom prst="rect">
            <a:avLst/>
          </a:prstGeom>
          <a:noFill/>
          <a:ln/>
        </p:spPr>
        <p:txBody>
          <a:bodyPr wrap="square" lIns="0" tIns="0" rIns="0" bIns="0" rtlCol="0" anchor="t"/>
          <a:lstStyle/>
          <a:p>
            <a:pPr indent="0" marL="0">
              <a:buNone/>
            </a:pPr>
            <a:r>
              <a:rPr lang="en-US" sz="1400" dirty="0">
                <a:solidFill>
                  <a:schemeClr val="tx2"/>
                </a:solidFill>
              </a:rPr>
              <a:t>best path efficiency (reference / our length)</a:t>
            </a:r>
            <a:endParaRPr lang="en-US" sz="1400" dirty="0"/>
          </a:p>
        </p:txBody>
      </p:sp>
      <p:sp>
        <p:nvSpPr>
          <p:cNvPr id="7" name="Text 5"/>
          <p:cNvSpPr txBox="1"/>
          <p:nvPr/>
        </p:nvSpPr>
        <p:spPr>
          <a:xfrm>
            <a:off x="548640" y="4800600"/>
            <a:ext cx="3200400" cy="731520"/>
          </a:xfrm>
          <a:prstGeom prst="rect">
            <a:avLst/>
          </a:prstGeom>
          <a:noFill/>
          <a:ln/>
        </p:spPr>
        <p:txBody>
          <a:bodyPr wrap="square" lIns="0" tIns="0" rIns="0" bIns="0" rtlCol="0" anchor="t"/>
          <a:lstStyle/>
          <a:p>
            <a:pPr indent="0" marL="0">
              <a:buNone/>
            </a:pPr>
            <a:r>
              <a:rPr lang="en-US" sz="1500" b="1" dirty="0">
                <a:solidFill>
                  <a:schemeClr val="tx1"/>
                </a:solidFill>
              </a:rPr>
              <a:t>No collision and no safety stop in any trial</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206240" y="1417320"/>
          <a:ext cx="7406640" cy="914400"/>
        </p:xfrm>
        <a:graphic>
          <a:graphicData uri="http://schemas.openxmlformats.org/drawingml/2006/table">
            <a:tbl>
              <a:tblPr/>
              <a:tblGrid>
                <a:gridCol w="1188720"/>
                <a:gridCol w="621792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Trial</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1E2226"/>
                    </a:solidFill>
                  </a:tcPr>
                </a:tc>
              </a:tr>
              <a:tr h="54864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Arm 1</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4/4 ores detected, picked and dropped in the right container</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54864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Arm 2</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New ore mix, one ore 0.83 m away: 4/4 sorted in 167 s</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54864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Robot 1</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First planner: 14.74 m lap vs 14.46 m reference (efficiency 0.98)</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54864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Robot 2</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Final planner: 14.55 m vs 14.58 m (efficiency 1.00)</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548640">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Robot 3</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500" dirty="0">
                          <a:solidFill>
                            <a:srgbClr val="1E2226"/>
                          </a:solidFill>
                          <a:latin typeface="Calibri" pitchFamily="34" charset="0"/>
                          <a:ea typeface="Calibri" pitchFamily="34" charset="-122"/>
                          <a:cs typeface="Calibri" pitchFamily="34" charset="-120"/>
                        </a:rPr>
                        <a:t>Final planner: 14.48 m vs 14.43 m (efficiency 0.996)</a:t>
                      </a:r>
                      <a:endParaRPr lang="en-US" sz="1500" dirty="0">
                        <a:latin typeface="Calibri" charset="0"/>
                        <a:ea typeface="Calibri" charset="0"/>
                        <a:cs typeface="Calibri" charset="0"/>
                      </a:endParaRPr>
                    </a:p>
                  </a:txBody>
                  <a:tcPr marL="109728" marR="109728"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bl>
          </a:graphicData>
        </a:graphic>
      </p:graphicFrame>
      <p:sp>
        <p:nvSpPr>
          <p:cNvPr id="9" name="Text 6"/>
          <p:cNvSpPr txBox="1"/>
          <p:nvPr/>
        </p:nvSpPr>
        <p:spPr>
          <a:xfrm>
            <a:off x="4206240" y="4937760"/>
            <a:ext cx="7406640" cy="731520"/>
          </a:xfrm>
          <a:prstGeom prst="rect">
            <a:avLst/>
          </a:prstGeom>
          <a:noFill/>
          <a:ln/>
        </p:spPr>
        <p:txBody>
          <a:bodyPr wrap="square" lIns="0" tIns="0" rIns="0" bIns="0" rtlCol="0" anchor="t"/>
          <a:lstStyle/>
          <a:p>
            <a:pPr indent="0" marL="0">
              <a:buNone/>
            </a:pPr>
            <a:r>
              <a:rPr lang="en-US" sz="1400" dirty="0">
                <a:solidFill>
                  <a:schemeClr val="tx2"/>
                </a:solidFill>
              </a:rPr>
              <a:t>Robot 3 falls short only because the reference itself moved: on the same rocks it measured 6.14 m in one trial and 6.07 m in the next.</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The full loop: hand-off and re-planning</a:t>
            </a:r>
            <a:endParaRPr lang="en-US" sz="3200" dirty="0"/>
          </a:p>
        </p:txBody>
      </p:sp>
      <p:pic>
        <p:nvPicPr>
          <p:cNvPr id="3" name="mission-shot" descr="Dashboard after a full mission: all five stages ticked, the package on the conveyor">    </p:cNvPr>
          <p:cNvPicPr>
            <a:picLocks noChangeAspect="1"/>
          </p:cNvPicPr>
          <p:nvPr/>
        </p:nvPicPr>
        <p:blipFill>
          <a:blip r:embed="rId1"/>
          <a:stretch>
            <a:fillRect/>
          </a:stretch>
        </p:blipFill>
        <p:spPr>
          <a:xfrm>
            <a:off x="548640" y="1325880"/>
            <a:ext cx="5394960" cy="3374136"/>
          </a:xfrm>
          <a:prstGeom prst="rect">
            <a:avLst/>
          </a:prstGeom>
        </p:spPr>
      </p:pic>
      <p:pic>
        <p:nvPicPr>
          <p:cNvPr id="4" name="replan-shot" descr="Dashboard map with an abandoned path, a surprise rock and the new path around it">    </p:cNvPr>
          <p:cNvPicPr>
            <a:picLocks noChangeAspect="1"/>
          </p:cNvPicPr>
          <p:nvPr/>
        </p:nvPicPr>
        <p:blipFill>
          <a:blip r:embed="rId2"/>
          <a:stretch>
            <a:fillRect/>
          </a:stretch>
        </p:blipFill>
        <p:spPr>
          <a:xfrm>
            <a:off x="6217920" y="1325880"/>
            <a:ext cx="5394960" cy="4050792"/>
          </a:xfrm>
          <a:prstGeom prst="rect">
            <a:avLst/>
          </a:prstGeom>
        </p:spPr>
      </p:pic>
      <p:sp>
        <p:nvSpPr>
          <p:cNvPr id="5" name="Text 1"/>
          <p:cNvSpPr txBox="1"/>
          <p:nvPr/>
        </p:nvSpPr>
        <p:spPr>
          <a:xfrm>
            <a:off x="548640" y="4846320"/>
            <a:ext cx="5394960" cy="1097280"/>
          </a:xfrm>
          <a:prstGeom prst="rect">
            <a:avLst/>
          </a:prstGeom>
          <a:noFill/>
          <a:ln/>
        </p:spPr>
        <p:txBody>
          <a:bodyPr wrap="square" lIns="0" tIns="0" rIns="0" bIns="0" rtlCol="0" anchor="t"/>
          <a:lstStyle/>
          <a:p>
            <a:pPr indent="0" marL="0">
              <a:buNone/>
            </a:pPr>
            <a:r>
              <a:rPr lang="en-US" sz="1400" dirty="0">
                <a:solidFill>
                  <a:schemeClr val="tx2"/>
                </a:solidFill>
              </a:rPr>
              <a:t>Full mission, one click, about 2 min: the eBot brings the ore package, the arm lifts it onto the conveyor (2.94 N = 0.30 kg held), the eBot drives home.</a:t>
            </a:r>
            <a:endParaRPr lang="en-US" sz="1400" dirty="0"/>
          </a:p>
        </p:txBody>
      </p:sp>
      <p:sp>
        <p:nvSpPr>
          <p:cNvPr id="6" name="Text 2"/>
          <p:cNvSpPr txBox="1"/>
          <p:nvPr/>
        </p:nvSpPr>
        <p:spPr>
          <a:xfrm>
            <a:off x="6217920" y="5486400"/>
            <a:ext cx="5394960" cy="822960"/>
          </a:xfrm>
          <a:prstGeom prst="rect">
            <a:avLst/>
          </a:prstGeom>
          <a:noFill/>
          <a:ln/>
        </p:spPr>
        <p:txBody>
          <a:bodyPr wrap="square" lIns="0" tIns="0" rIns="0" bIns="0" rtlCol="0" anchor="t"/>
          <a:lstStyle/>
          <a:p>
            <a:pPr indent="0" marL="0">
              <a:buNone/>
            </a:pPr>
            <a:r>
              <a:rPr lang="en-US" sz="1400" dirty="0">
                <a:solidFill>
                  <a:schemeClr val="tx2"/>
                </a:solidFill>
              </a:rPr>
              <a:t>Surprise rock: the lidar sees it within 0.26 m of the path, the eBot stops and the planner re-plans in 0.1 s.</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What broke, and how we fixed it</a:t>
            </a:r>
            <a:endParaRPr lang="en-US" sz="3200" dirty="0"/>
          </a:p>
        </p:txBody>
      </p:sp>
      <p:sp>
        <p:nvSpPr>
          <p:cNvPr id="3" name="issue-1"/>
          <p:cNvSpPr/>
          <p:nvPr/>
        </p:nvSpPr>
        <p:spPr>
          <a:xfrm>
            <a:off x="548640" y="1417320"/>
            <a:ext cx="3520440" cy="2148840"/>
          </a:xfrm>
          <a:prstGeom prst="roundRect">
            <a:avLst>
              <a:gd name="adj" fmla="val 3404"/>
            </a:avLst>
          </a:prstGeom>
          <a:solidFill>
            <a:schemeClr val="bg2"/>
          </a:solidFill>
          <a:ln w="12700">
            <a:solidFill>
              <a:schemeClr val="bg2"/>
            </a:solidFill>
            <a:prstDash val="solid"/>
          </a:ln>
        </p:spPr>
      </p:sp>
      <p:sp>
        <p:nvSpPr>
          <p:cNvPr id="4" name="Text 2"/>
          <p:cNvSpPr txBox="1"/>
          <p:nvPr/>
        </p:nvSpPr>
        <p:spPr>
          <a:xfrm>
            <a:off x="777240" y="161848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No path at all</a:t>
            </a:r>
            <a:endParaRPr lang="en-US" sz="1800" dirty="0"/>
          </a:p>
        </p:txBody>
      </p:sp>
      <p:sp>
        <p:nvSpPr>
          <p:cNvPr id="5" name="Text 3"/>
          <p:cNvSpPr txBox="1"/>
          <p:nvPr/>
        </p:nvSpPr>
        <p:spPr>
          <a:xfrm>
            <a:off x="777240" y="2103120"/>
            <a:ext cx="3063240" cy="1325880"/>
          </a:xfrm>
          <a:prstGeom prst="rect">
            <a:avLst/>
          </a:prstGeom>
          <a:noFill/>
          <a:ln/>
        </p:spPr>
        <p:txBody>
          <a:bodyPr wrap="square" lIns="0" tIns="0" rIns="0" bIns="0" rtlCol="0" anchor="t"/>
          <a:lstStyle/>
          <a:p>
            <a:pPr indent="0" marL="0">
              <a:buNone/>
            </a:pPr>
            <a:r>
              <a:rPr lang="en-US" sz="1450" dirty="0">
                <a:solidFill>
                  <a:schemeClr val="tx1"/>
                </a:solidFill>
              </a:rPr>
              <a:t>Drop pose is 0.375 m from a wall; downsampling shaved 5 cm more. Full-resolution clearance fixed it.</a:t>
            </a:r>
            <a:endParaRPr lang="en-US" sz="1450" dirty="0"/>
          </a:p>
        </p:txBody>
      </p:sp>
      <p:sp>
        <p:nvSpPr>
          <p:cNvPr id="6" name="issue-2"/>
          <p:cNvSpPr/>
          <p:nvPr/>
        </p:nvSpPr>
        <p:spPr>
          <a:xfrm>
            <a:off x="4297680" y="1417320"/>
            <a:ext cx="3520440" cy="2148840"/>
          </a:xfrm>
          <a:prstGeom prst="roundRect">
            <a:avLst>
              <a:gd name="adj" fmla="val 3404"/>
            </a:avLst>
          </a:prstGeom>
          <a:solidFill>
            <a:schemeClr val="bg2"/>
          </a:solidFill>
          <a:ln w="12700">
            <a:solidFill>
              <a:schemeClr val="bg2"/>
            </a:solidFill>
            <a:prstDash val="solid"/>
          </a:ln>
        </p:spPr>
      </p:sp>
      <p:sp>
        <p:nvSpPr>
          <p:cNvPr id="7" name="Text 5"/>
          <p:cNvSpPr txBox="1"/>
          <p:nvPr/>
        </p:nvSpPr>
        <p:spPr>
          <a:xfrm>
            <a:off x="4526280" y="161848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Paths 2% too long</a:t>
            </a:r>
            <a:endParaRPr lang="en-US" sz="1800" dirty="0"/>
          </a:p>
        </p:txBody>
      </p:sp>
      <p:sp>
        <p:nvSpPr>
          <p:cNvPr id="8" name="Text 6"/>
          <p:cNvSpPr txBox="1"/>
          <p:nvPr/>
        </p:nvSpPr>
        <p:spPr>
          <a:xfrm>
            <a:off x="4526280" y="2103120"/>
            <a:ext cx="3063240" cy="1325880"/>
          </a:xfrm>
          <a:prstGeom prst="rect">
            <a:avLst/>
          </a:prstGeom>
          <a:noFill/>
          <a:ln/>
        </p:spPr>
        <p:txBody>
          <a:bodyPr wrap="square" lIns="0" tIns="0" rIns="0" bIns="0" rtlCol="0" anchor="t"/>
          <a:lstStyle/>
          <a:p>
            <a:pPr indent="0" marL="0">
              <a:buNone/>
            </a:pPr>
            <a:r>
              <a:rPr lang="en-US" sz="1450" dirty="0">
                <a:solidFill>
                  <a:schemeClr val="tx1"/>
                </a:solidFill>
              </a:rPr>
              <a:t>Grid-snapped corners. Fine-map checks and corner tightening reached efficiency 1.00.</a:t>
            </a:r>
            <a:endParaRPr lang="en-US" sz="1450" dirty="0"/>
          </a:p>
        </p:txBody>
      </p:sp>
      <p:sp>
        <p:nvSpPr>
          <p:cNvPr id="9" name="issue-3"/>
          <p:cNvSpPr/>
          <p:nvPr/>
        </p:nvSpPr>
        <p:spPr>
          <a:xfrm>
            <a:off x="8046720" y="1417320"/>
            <a:ext cx="3520440" cy="2148840"/>
          </a:xfrm>
          <a:prstGeom prst="roundRect">
            <a:avLst>
              <a:gd name="adj" fmla="val 3404"/>
            </a:avLst>
          </a:prstGeom>
          <a:solidFill>
            <a:schemeClr val="bg2"/>
          </a:solidFill>
          <a:ln w="12700">
            <a:solidFill>
              <a:schemeClr val="bg2"/>
            </a:solidFill>
            <a:prstDash val="solid"/>
          </a:ln>
        </p:spPr>
      </p:sp>
      <p:sp>
        <p:nvSpPr>
          <p:cNvPr id="10" name="Text 8"/>
          <p:cNvSpPr txBox="1"/>
          <p:nvPr/>
        </p:nvSpPr>
        <p:spPr>
          <a:xfrm>
            <a:off x="8275320" y="161848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IK took minutes</a:t>
            </a:r>
            <a:endParaRPr lang="en-US" sz="1800" dirty="0"/>
          </a:p>
        </p:txBody>
      </p:sp>
      <p:sp>
        <p:nvSpPr>
          <p:cNvPr id="11" name="Text 9"/>
          <p:cNvSpPr txBox="1"/>
          <p:nvPr/>
        </p:nvSpPr>
        <p:spPr>
          <a:xfrm>
            <a:off x="8275320" y="2103120"/>
            <a:ext cx="3063240" cy="1325880"/>
          </a:xfrm>
          <a:prstGeom prst="rect">
            <a:avLst/>
          </a:prstGeom>
          <a:noFill/>
          <a:ln/>
        </p:spPr>
        <p:txBody>
          <a:bodyPr wrap="square" lIns="0" tIns="0" rIns="0" bIns="0" rtlCol="0" anchor="t"/>
          <a:lstStyle/>
          <a:p>
            <a:pPr indent="0" marL="0">
              <a:buNone/>
            </a:pPr>
            <a:r>
              <a:rPr lang="en-US" sz="1450" dirty="0">
                <a:solidFill>
                  <a:schemeClr val="tx1"/>
                </a:solidFill>
              </a:rPr>
              <a:t>Checks inside every optimiser step. DLS with one final check: 0.1-0.4 s.</a:t>
            </a:r>
            <a:endParaRPr lang="en-US" sz="1450" dirty="0"/>
          </a:p>
        </p:txBody>
      </p:sp>
      <p:sp>
        <p:nvSpPr>
          <p:cNvPr id="12" name="issue-4"/>
          <p:cNvSpPr/>
          <p:nvPr/>
        </p:nvSpPr>
        <p:spPr>
          <a:xfrm>
            <a:off x="548640" y="3794760"/>
            <a:ext cx="3520440" cy="2148840"/>
          </a:xfrm>
          <a:prstGeom prst="roundRect">
            <a:avLst>
              <a:gd name="adj" fmla="val 3404"/>
            </a:avLst>
          </a:prstGeom>
          <a:solidFill>
            <a:schemeClr val="bg2"/>
          </a:solidFill>
          <a:ln w="12700">
            <a:solidFill>
              <a:schemeClr val="bg2"/>
            </a:solidFill>
            <a:prstDash val="solid"/>
          </a:ln>
        </p:spPr>
      </p:sp>
      <p:sp>
        <p:nvSpPr>
          <p:cNvPr id="13" name="Text 11"/>
          <p:cNvSpPr txBox="1"/>
          <p:nvPr/>
        </p:nvSpPr>
        <p:spPr>
          <a:xfrm>
            <a:off x="777240" y="399592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Arm lost after a drop</a:t>
            </a:r>
            <a:endParaRPr lang="en-US" sz="1800" dirty="0"/>
          </a:p>
        </p:txBody>
      </p:sp>
      <p:sp>
        <p:nvSpPr>
          <p:cNvPr id="14" name="Text 12"/>
          <p:cNvSpPr txBox="1"/>
          <p:nvPr/>
        </p:nvSpPr>
        <p:spPr>
          <a:xfrm>
            <a:off x="777240" y="4480560"/>
            <a:ext cx="3063240" cy="1325880"/>
          </a:xfrm>
          <a:prstGeom prst="rect">
            <a:avLst/>
          </a:prstGeom>
          <a:noFill/>
          <a:ln/>
        </p:spPr>
        <p:txBody>
          <a:bodyPr wrap="square" lIns="0" tIns="0" rIns="0" bIns="0" rtlCol="0" anchor="t"/>
          <a:lstStyle/>
          <a:p>
            <a:pPr indent="0" marL="0">
              <a:buNone/>
            </a:pPr>
            <a:r>
              <a:rPr lang="en-US" sz="1450" dirty="0">
                <a:solidFill>
                  <a:schemeClr val="tx1"/>
                </a:solidFill>
              </a:rPr>
              <a:t>No IK seed back to the conveyor. A library of solved poses fixed it.</a:t>
            </a:r>
            <a:endParaRPr lang="en-US" sz="1450" dirty="0"/>
          </a:p>
        </p:txBody>
      </p:sp>
      <p:sp>
        <p:nvSpPr>
          <p:cNvPr id="15" name="issue-5"/>
          <p:cNvSpPr/>
          <p:nvPr/>
        </p:nvSpPr>
        <p:spPr>
          <a:xfrm>
            <a:off x="4297680" y="3794760"/>
            <a:ext cx="3520440" cy="2148840"/>
          </a:xfrm>
          <a:prstGeom prst="roundRect">
            <a:avLst>
              <a:gd name="adj" fmla="val 3404"/>
            </a:avLst>
          </a:prstGeom>
          <a:solidFill>
            <a:schemeClr val="bg2"/>
          </a:solidFill>
          <a:ln w="12700">
            <a:solidFill>
              <a:schemeClr val="bg2"/>
            </a:solidFill>
            <a:prstDash val="solid"/>
          </a:ln>
        </p:spPr>
      </p:sp>
      <p:sp>
        <p:nvSpPr>
          <p:cNvPr id="16" name="Text 14"/>
          <p:cNvSpPr txBox="1"/>
          <p:nvPr/>
        </p:nvSpPr>
        <p:spPr>
          <a:xfrm>
            <a:off x="4526280" y="399592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Vanadinite unreachable</a:t>
            </a:r>
            <a:endParaRPr lang="en-US" sz="1800" dirty="0"/>
          </a:p>
        </p:txBody>
      </p:sp>
      <p:sp>
        <p:nvSpPr>
          <p:cNvPr id="17" name="Text 15"/>
          <p:cNvSpPr txBox="1"/>
          <p:nvPr/>
        </p:nvSpPr>
        <p:spPr>
          <a:xfrm>
            <a:off x="4526280" y="4480560"/>
            <a:ext cx="3063240" cy="1325880"/>
          </a:xfrm>
          <a:prstGeom prst="rect">
            <a:avLst/>
          </a:prstGeom>
          <a:noFill/>
          <a:ln/>
        </p:spPr>
        <p:txBody>
          <a:bodyPr wrap="square" lIns="0" tIns="0" rIns="0" bIns="0" rtlCol="0" anchor="t"/>
          <a:lstStyle/>
          <a:p>
            <a:pPr indent="0" marL="0">
              <a:buNone/>
            </a:pPr>
            <a:r>
              <a:rPr lang="en-US" sz="1450" dirty="0">
                <a:solidFill>
                  <a:schemeClr val="tx1"/>
                </a:solidFill>
              </a:rPr>
              <a:t>Container centre 0.93 m away. Release at its nearest reachable point.</a:t>
            </a:r>
            <a:endParaRPr lang="en-US" sz="1450" dirty="0"/>
          </a:p>
        </p:txBody>
      </p:sp>
      <p:sp>
        <p:nvSpPr>
          <p:cNvPr id="18" name="issue-6"/>
          <p:cNvSpPr/>
          <p:nvPr/>
        </p:nvSpPr>
        <p:spPr>
          <a:xfrm>
            <a:off x="8046720" y="3794760"/>
            <a:ext cx="3520440" cy="2148840"/>
          </a:xfrm>
          <a:prstGeom prst="roundRect">
            <a:avLst>
              <a:gd name="adj" fmla="val 3404"/>
            </a:avLst>
          </a:prstGeom>
          <a:solidFill>
            <a:schemeClr val="bg2"/>
          </a:solidFill>
          <a:ln w="12700">
            <a:solidFill>
              <a:schemeClr val="bg2"/>
            </a:solidFill>
            <a:prstDash val="solid"/>
          </a:ln>
        </p:spPr>
      </p:sp>
      <p:sp>
        <p:nvSpPr>
          <p:cNvPr id="19" name="Text 17"/>
          <p:cNvSpPr txBox="1"/>
          <p:nvPr/>
        </p:nvSpPr>
        <p:spPr>
          <a:xfrm>
            <a:off x="8275320" y="3995928"/>
            <a:ext cx="3063240" cy="411480"/>
          </a:xfrm>
          <a:prstGeom prst="rect">
            <a:avLst/>
          </a:prstGeom>
          <a:noFill/>
          <a:ln/>
        </p:spPr>
        <p:txBody>
          <a:bodyPr wrap="square" lIns="0" tIns="0" rIns="0" bIns="0" rtlCol="0" anchor="t"/>
          <a:lstStyle/>
          <a:p>
            <a:pPr indent="0" marL="0">
              <a:buNone/>
            </a:pPr>
            <a:r>
              <a:rPr lang="en-US" sz="1800" b="1" dirty="0">
                <a:solidFill>
                  <a:schemeClr val="accent1"/>
                </a:solidFill>
              </a:rPr>
              <a:t>Two simulations clashed</a:t>
            </a:r>
            <a:endParaRPr lang="en-US" sz="1800" dirty="0"/>
          </a:p>
        </p:txBody>
      </p:sp>
      <p:sp>
        <p:nvSpPr>
          <p:cNvPr id="20" name="Text 18"/>
          <p:cNvSpPr txBox="1"/>
          <p:nvPr/>
        </p:nvSpPr>
        <p:spPr>
          <a:xfrm>
            <a:off x="8275320" y="4480560"/>
            <a:ext cx="3063240" cy="1325880"/>
          </a:xfrm>
          <a:prstGeom prst="rect">
            <a:avLst/>
          </a:prstGeom>
          <a:noFill/>
          <a:ln/>
        </p:spPr>
        <p:txBody>
          <a:bodyPr wrap="square" lIns="0" tIns="0" rIns="0" bIns="0" rtlCol="0" anchor="t"/>
          <a:lstStyle/>
          <a:p>
            <a:pPr indent="0" marL="0">
              <a:buNone/>
            </a:pPr>
            <a:r>
              <a:rPr lang="en-US" sz="1450" dirty="0">
                <a:solidFill>
                  <a:schemeClr val="tx1"/>
                </a:solidFill>
              </a:rPr>
              <a:t>A leftover simulation on the same ROS domain. One world at a time.</a:t>
            </a:r>
            <a:endParaRPr lang="en-US" sz="145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lIns="0" tIns="0" rIns="0" bIns="0" rtlCol="0" anchor="ctr"/>
          <a:lstStyle/>
          <a:p>
            <a:pPr indent="0" marL="0">
              <a:buNone/>
            </a:pPr>
            <a:r>
              <a:rPr lang="en-US" sz="3600" b="1" dirty="0">
                <a:solidFill>
                  <a:schemeClr val="bg1"/>
                </a:solidFill>
              </a:rPr>
              <a:t>Both robots complete their missions end to end</a:t>
            </a:r>
            <a:endParaRPr lang="en-US" sz="3600" dirty="0"/>
          </a:p>
        </p:txBody>
      </p:sp>
      <p:sp>
        <p:nvSpPr>
          <p:cNvPr id="3" name="done-1"/>
          <p:cNvSpPr/>
          <p:nvPr/>
        </p:nvSpPr>
        <p:spPr>
          <a:xfrm>
            <a:off x="640080" y="17373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325880" y="1764792"/>
            <a:ext cx="5120640" cy="640080"/>
          </a:xfrm>
          <a:prstGeom prst="rect">
            <a:avLst/>
          </a:prstGeom>
          <a:noFill/>
          <a:ln/>
        </p:spPr>
        <p:txBody>
          <a:bodyPr wrap="square" lIns="0" tIns="0" rIns="0" bIns="0" rtlCol="0" anchor="t"/>
          <a:lstStyle/>
          <a:p>
            <a:pPr indent="0" marL="0">
              <a:buNone/>
            </a:pPr>
            <a:r>
              <a:rPr lang="en-US" sz="1800" dirty="0">
                <a:solidFill>
                  <a:schemeClr val="bg1"/>
                </a:solidFill>
              </a:rPr>
              <a:t>Sorting: 16 of 16 ores in the right container</a:t>
            </a:r>
            <a:endParaRPr lang="en-US" sz="1800" dirty="0"/>
          </a:p>
        </p:txBody>
      </p:sp>
      <p:sp>
        <p:nvSpPr>
          <p:cNvPr id="6" name="done-2"/>
          <p:cNvSpPr/>
          <p:nvPr/>
        </p:nvSpPr>
        <p:spPr>
          <a:xfrm>
            <a:off x="640080" y="24871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640080" y="24871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325880" y="2514600"/>
            <a:ext cx="5120640" cy="640080"/>
          </a:xfrm>
          <a:prstGeom prst="rect">
            <a:avLst/>
          </a:prstGeom>
          <a:noFill/>
          <a:ln/>
        </p:spPr>
        <p:txBody>
          <a:bodyPr wrap="square" lIns="0" tIns="0" rIns="0" bIns="0" rtlCol="0" anchor="t"/>
          <a:lstStyle/>
          <a:p>
            <a:pPr indent="0" marL="0">
              <a:buNone/>
            </a:pPr>
            <a:r>
              <a:rPr lang="en-US" sz="1800" dirty="0">
                <a:solidFill>
                  <a:schemeClr val="bg1"/>
                </a:solidFill>
              </a:rPr>
              <a:t>Planning: paths as short as the reference</a:t>
            </a:r>
            <a:endParaRPr lang="en-US" sz="1800" dirty="0"/>
          </a:p>
        </p:txBody>
      </p:sp>
      <p:sp>
        <p:nvSpPr>
          <p:cNvPr id="9" name="done-3"/>
          <p:cNvSpPr/>
          <p:nvPr/>
        </p:nvSpPr>
        <p:spPr>
          <a:xfrm>
            <a:off x="640080" y="3236976"/>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 y="3236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325880" y="3264408"/>
            <a:ext cx="5120640" cy="640080"/>
          </a:xfrm>
          <a:prstGeom prst="rect">
            <a:avLst/>
          </a:prstGeom>
          <a:noFill/>
          <a:ln/>
        </p:spPr>
        <p:txBody>
          <a:bodyPr wrap="square" lIns="0" tIns="0" rIns="0" bIns="0" rtlCol="0" anchor="t"/>
          <a:lstStyle/>
          <a:p>
            <a:pPr indent="0" marL="0">
              <a:buNone/>
            </a:pPr>
            <a:r>
              <a:rPr lang="en-US" sz="1800" dirty="0">
                <a:solidFill>
                  <a:schemeClr val="bg1"/>
                </a:solidFill>
              </a:rPr>
              <a:t>Hand-off: eBot to arm to conveyor</a:t>
            </a:r>
            <a:endParaRPr lang="en-US" sz="1800" dirty="0"/>
          </a:p>
        </p:txBody>
      </p:sp>
      <p:sp>
        <p:nvSpPr>
          <p:cNvPr id="12" name="done-4"/>
          <p:cNvSpPr/>
          <p:nvPr/>
        </p:nvSpPr>
        <p:spPr>
          <a:xfrm>
            <a:off x="640080" y="3986784"/>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640080" y="39867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325880" y="4014216"/>
            <a:ext cx="5120640" cy="640080"/>
          </a:xfrm>
          <a:prstGeom prst="rect">
            <a:avLst/>
          </a:prstGeom>
          <a:noFill/>
          <a:ln/>
        </p:spPr>
        <p:txBody>
          <a:bodyPr wrap="square" lIns="0" tIns="0" rIns="0" bIns="0" rtlCol="0" anchor="t"/>
          <a:lstStyle/>
          <a:p>
            <a:pPr indent="0" marL="0">
              <a:buNone/>
            </a:pPr>
            <a:r>
              <a:rPr lang="en-US" sz="1800" dirty="0">
                <a:solidFill>
                  <a:schemeClr val="bg1"/>
                </a:solidFill>
              </a:rPr>
              <a:t>Re-planning around unmapped rocks</a:t>
            </a:r>
            <a:endParaRPr lang="en-US" sz="1800" dirty="0"/>
          </a:p>
        </p:txBody>
      </p:sp>
      <p:sp>
        <p:nvSpPr>
          <p:cNvPr id="15" name="done-5"/>
          <p:cNvSpPr/>
          <p:nvPr/>
        </p:nvSpPr>
        <p:spPr>
          <a:xfrm>
            <a:off x="640080" y="473659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4736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325880" y="4764024"/>
            <a:ext cx="5120640" cy="640080"/>
          </a:xfrm>
          <a:prstGeom prst="rect">
            <a:avLst/>
          </a:prstGeom>
          <a:noFill/>
          <a:ln/>
        </p:spPr>
        <p:txBody>
          <a:bodyPr wrap="square" lIns="0" tIns="0" rIns="0" bIns="0" rtlCol="0" anchor="t"/>
          <a:lstStyle/>
          <a:p>
            <a:pPr indent="0" marL="0">
              <a:buNone/>
            </a:pPr>
            <a:r>
              <a:rPr lang="en-US" sz="1800" dirty="0">
                <a:solidFill>
                  <a:schemeClr val="bg1"/>
                </a:solidFill>
              </a:rPr>
              <a:t>Every algorithm written from scratch</a:t>
            </a:r>
            <a:endParaRPr lang="en-US" sz="1800" dirty="0"/>
          </a:p>
        </p:txBody>
      </p:sp>
      <p:sp>
        <p:nvSpPr>
          <p:cNvPr id="18" name="Text 16"/>
          <p:cNvSpPr txBox="1"/>
          <p:nvPr/>
        </p:nvSpPr>
        <p:spPr>
          <a:xfrm>
            <a:off x="6766560" y="1783080"/>
            <a:ext cx="4754880" cy="457200"/>
          </a:xfrm>
          <a:prstGeom prst="rect">
            <a:avLst/>
          </a:prstGeom>
          <a:noFill/>
          <a:ln/>
        </p:spPr>
        <p:txBody>
          <a:bodyPr wrap="square" lIns="0" tIns="0" rIns="0" bIns="0" rtlCol="0" anchor="t"/>
          <a:lstStyle/>
          <a:p>
            <a:pPr indent="0" marL="0">
              <a:buNone/>
            </a:pPr>
            <a:r>
              <a:rPr lang="en-US" sz="2200" b="1" dirty="0">
                <a:solidFill>
                  <a:schemeClr val="accent4"/>
                </a:solidFill>
              </a:rPr>
              <a:t>Next</a:t>
            </a:r>
            <a:endParaRPr lang="en-US" sz="2200" dirty="0"/>
          </a:p>
        </p:txBody>
      </p:sp>
      <p:sp>
        <p:nvSpPr>
          <p:cNvPr id="19" name="Text 17"/>
          <p:cNvSpPr txBox="1"/>
          <p:nvPr/>
        </p:nvSpPr>
        <p:spPr>
          <a:xfrm>
            <a:off x="6766560" y="2377440"/>
            <a:ext cx="475488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2"/>
                </a:solidFill>
              </a:rPr>
              <a:t>Train a classifier on real ore samples</a:t>
            </a:r>
            <a:endParaRPr lang="en-US" sz="1800" dirty="0"/>
          </a:p>
          <a:p>
            <a:pPr marL="342900" indent="-342900">
              <a:spcAft>
                <a:spcPts val="1000"/>
              </a:spcAft>
              <a:buSzPct val="100000"/>
              <a:buChar char="•"/>
            </a:pPr>
            <a:r>
              <a:rPr lang="en-US" sz="1800" dirty="0">
                <a:solidFill>
                  <a:schemeClr val="bg2"/>
                </a:solidFill>
              </a:rPr>
              <a:t>Move to physical robots</a:t>
            </a:r>
            <a:endParaRPr lang="en-US" sz="1800" dirty="0"/>
          </a:p>
        </p:txBody>
      </p:sp>
      <p:sp>
        <p:nvSpPr>
          <p:cNvPr id="20" name="Text 18"/>
          <p:cNvSpPr txBox="1"/>
          <p:nvPr/>
        </p:nvSpPr>
        <p:spPr>
          <a:xfrm>
            <a:off x="640080" y="5669280"/>
            <a:ext cx="10881360" cy="548640"/>
          </a:xfrm>
          <a:prstGeom prst="rect">
            <a:avLst/>
          </a:prstGeom>
          <a:noFill/>
          <a:ln/>
        </p:spPr>
        <p:txBody>
          <a:bodyPr wrap="square" lIns="0" tIns="0" rIns="0" bIns="0" rtlCol="0" anchor="t"/>
          <a:lstStyle/>
          <a:p>
            <a:pPr indent="0" marL="0">
              <a:buNone/>
            </a:pPr>
            <a:r>
              <a:rPr lang="en-US" sz="2000" b="1" dirty="0">
                <a:solidFill>
                  <a:schemeClr val="bg1"/>
                </a:solidFill>
              </a:rPr>
              <a:t>Thank you  ·  Questions?</a:t>
            </a:r>
            <a:endParaRPr lang="en-US" sz="2000" dirty="0"/>
          </a:p>
        </p:txBody>
      </p:sp>
    </p:spTree>
  </p:cSld>
  <p:clrMapOvr>
    <a:masterClrMapping/>
  </p:clrMapOvr>
</p:sld>
</file>

<file path=ppt/theme/theme1.xml><?xml version="1.0" encoding="utf-8"?>
<a:theme xmlns:a="http://schemas.openxmlformats.org/drawingml/2006/main" name="Strata Cobot">
  <a:themeElements>
    <a:clrScheme name="Strata Cobot">
      <a:dk1>
        <a:srgbClr val="1E2226"/>
      </a:dk1>
      <a:lt1>
        <a:srgbClr val="FFFFFF"/>
      </a:lt1>
      <a:dk2>
        <a:srgbClr val="4A3B35"/>
      </a:dk2>
      <a:lt2>
        <a:srgbClr val="F1ECE8"/>
      </a:lt2>
      <a:accent1>
        <a:srgbClr val="C4501F"/>
      </a:accent1>
      <a:accent2>
        <a:srgbClr val="2F6FB3"/>
      </a:accent2>
      <a:accent3>
        <a:srgbClr val="3E9B4F"/>
      </a:accent3>
      <a:accent4>
        <a:srgbClr val="E07B1F"/>
      </a:accent4>
      <a:accent5>
        <a:srgbClr val="6B7280"/>
      </a:accent5>
      <a:accent6>
        <a:srgbClr val="8C3A15"/>
      </a:accent6>
      <a:hlink>
        <a:srgbClr val="2F6FB3"/>
      </a:hlink>
      <a:folHlink>
        <a:srgbClr val="6B4FA0"/>
      </a:folHlink>
    </a:clrScheme>
    <a:fontScheme name="Strata Cobo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Strata Cobot: autonomous ore sorting and haulage in ROS 2</dc:title>
  <dc:subject>PptxGenJS Presentation</dc:subject>
  <dc:creator>C Saihardhik Reddy, R Gagan Chowdary, K Charan Saatvikh Reddy</dc:creator>
  <cp:lastModifiedBy>C Saihardhik Reddy, R Gagan Chowdary, K Charan Saatvikh Reddy</cp:lastModifiedBy>
  <cp:revision>1</cp:revision>
  <dcterms:created xsi:type="dcterms:W3CDTF">2026-10-27T08:19:47Z</dcterms:created>
  <dcterms:modified xsi:type="dcterms:W3CDTF">2026-10-27T08:19:47Z</dcterms:modified>
</cp:coreProperties>
</file>